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9" r:id="rId3"/>
    <p:sldId id="278" r:id="rId4"/>
    <p:sldId id="279" r:id="rId5"/>
    <p:sldId id="280" r:id="rId6"/>
    <p:sldId id="281" r:id="rId7"/>
    <p:sldId id="282" r:id="rId8"/>
    <p:sldId id="283" r:id="rId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1" roundtripDataSignature="AMtx7mihjF2ZWQEcNdCQGL3IzqOLXbA9x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178BA"/>
    <a:srgbClr val="2691C5"/>
    <a:srgbClr val="FFFFFF"/>
    <a:srgbClr val="204B90"/>
    <a:srgbClr val="C12026"/>
    <a:srgbClr val="004889"/>
    <a:srgbClr val="004687"/>
    <a:srgbClr val="3CBF7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7A43732-219E-4773-AEE6-7331DB972763}">
  <a:tblStyle styleId="{97A43732-219E-4773-AEE6-7331DB972763}" styleName="Table_0">
    <a:wholeTbl>
      <a:tcTxStyle b="off" i="off">
        <a:font>
          <a:latin typeface="맑은 고딕"/>
          <a:ea typeface="맑은 고딕"/>
          <a:cs typeface="맑은 고딕"/>
        </a:font>
        <a:schemeClr val="dk1"/>
      </a:tcTxStyle>
      <a:tcStyle>
        <a:tcBdr>
          <a:lef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customschemas.google.com/relationships/presentationmetadata" Target="metadata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 sz="1200" b="0" i="0" u="none" strike="noStrike" cap="none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fld>
            <a:endParaRPr lang="ko-KR" altLang="en-US" sz="12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4035619248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0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0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콘텐츠 2개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11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2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2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2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12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2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콘텐츠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5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15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그림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6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6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텍스트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7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텍스트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8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2" name="Google Shape;12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3" name="Google Shape;13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4" name="Google Shape;14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/>
          <p:nvPr/>
        </p:nvSpPr>
        <p:spPr>
          <a:xfrm>
            <a:off x="1582645" y="1766158"/>
            <a:ext cx="9604661" cy="8001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lnSpc>
                <a:spcPct val="115000"/>
              </a:lnSpc>
            </a:pPr>
            <a:r>
              <a:rPr lang="en-US" altLang="ko-KR" sz="4000" b="0" i="0" dirty="0">
                <a:solidFill>
                  <a:srgbClr val="202124"/>
                </a:solidFill>
                <a:effectLst/>
                <a:latin typeface="Pretendard_KR"/>
                <a:ea typeface="Malgun Gothic" panose="020B0503020000020004" pitchFamily="50" charset="-127"/>
              </a:rPr>
              <a:t>JB</a:t>
            </a:r>
            <a:r>
              <a:rPr lang="ko-KR" altLang="en-US" sz="4000" b="0" i="0" dirty="0">
                <a:solidFill>
                  <a:srgbClr val="202124"/>
                </a:solidFill>
                <a:effectLst/>
                <a:latin typeface="Pretendard_KR"/>
                <a:ea typeface="Malgun Gothic" panose="020B0503020000020004" pitchFamily="50" charset="-127"/>
              </a:rPr>
              <a:t>금융그룹 </a:t>
            </a:r>
            <a:r>
              <a:rPr lang="en-US" altLang="ko-KR" sz="4000" b="0" i="0" dirty="0" err="1">
                <a:solidFill>
                  <a:srgbClr val="202124"/>
                </a:solidFill>
                <a:effectLst/>
                <a:latin typeface="Pretendard_KR"/>
                <a:ea typeface="Malgun Gothic" panose="020B0503020000020004" pitchFamily="50" charset="-127"/>
              </a:rPr>
              <a:t>Fin:AI</a:t>
            </a:r>
            <a:r>
              <a:rPr lang="en-US" altLang="ko-KR" sz="4000" b="0" i="0" dirty="0">
                <a:solidFill>
                  <a:srgbClr val="202124"/>
                </a:solidFill>
                <a:effectLst/>
                <a:latin typeface="Pretendard_KR"/>
                <a:ea typeface="Malgun Gothic" panose="020B0503020000020004" pitchFamily="50" charset="-127"/>
              </a:rPr>
              <a:t> Challenge</a:t>
            </a:r>
            <a:endParaRPr lang="en-US" altLang="ko-KR" sz="4000" b="0" i="0" dirty="0">
              <a:solidFill>
                <a:srgbClr val="202124"/>
              </a:solidFill>
              <a:effectLst/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graphicFrame>
        <p:nvGraphicFramePr>
          <p:cNvPr id="89" name="Google Shape;89;p1"/>
          <p:cNvGraphicFramePr/>
          <p:nvPr>
            <p:extLst>
              <p:ext uri="{D42A27DB-BD31-4B8C-83A1-F6EECF244321}">
                <p14:modId xmlns:p14="http://schemas.microsoft.com/office/powerpoint/2010/main" val="53809264"/>
              </p:ext>
            </p:extLst>
          </p:nvPr>
        </p:nvGraphicFramePr>
        <p:xfrm>
          <a:off x="3386675" y="4470435"/>
          <a:ext cx="5418650" cy="899000"/>
        </p:xfrm>
        <a:graphic>
          <a:graphicData uri="http://schemas.openxmlformats.org/drawingml/2006/table">
            <a:tbl>
              <a:tblPr firstRow="1" bandRow="1">
                <a:noFill/>
                <a:tableStyleId>{97A43732-219E-4773-AEE6-7331DB972763}</a:tableStyleId>
              </a:tblPr>
              <a:tblGrid>
                <a:gridCol w="2709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9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95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800" u="none" strike="noStrike" cap="none" dirty="0" err="1"/>
                        <a:t>팀명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[TBD]</a:t>
                      </a: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95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800" u="none" strike="noStrike" cap="none" dirty="0"/>
                        <a:t>서비스명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준법자문가 AI Agent</a:t>
                      </a: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2531980"/>
                  </a:ext>
                </a:extLst>
              </a:tr>
            </a:tbl>
          </a:graphicData>
        </a:graphic>
      </p:graphicFrame>
      <p:cxnSp>
        <p:nvCxnSpPr>
          <p:cNvPr id="90" name="Google Shape;90;p1"/>
          <p:cNvCxnSpPr/>
          <p:nvPr/>
        </p:nvCxnSpPr>
        <p:spPr>
          <a:xfrm>
            <a:off x="388374" y="6415548"/>
            <a:ext cx="11415252" cy="0"/>
          </a:xfrm>
          <a:prstGeom prst="straightConnector1">
            <a:avLst/>
          </a:prstGeom>
          <a:noFill/>
          <a:ln w="19050" cap="flat" cmpd="sng">
            <a:solidFill>
              <a:srgbClr val="2178BA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92" name="Google Shape;92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95670" y="6464707"/>
            <a:ext cx="1007955" cy="35340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4" name="Google Shape;94;p1"/>
          <p:cNvCxnSpPr>
            <a:cxnSpLocks/>
          </p:cNvCxnSpPr>
          <p:nvPr/>
        </p:nvCxnSpPr>
        <p:spPr>
          <a:xfrm>
            <a:off x="1582645" y="2607351"/>
            <a:ext cx="9508142" cy="0"/>
          </a:xfrm>
          <a:prstGeom prst="straightConnector1">
            <a:avLst/>
          </a:prstGeom>
          <a:noFill/>
          <a:ln w="38100" cap="flat" cmpd="sng">
            <a:solidFill>
              <a:srgbClr val="204B9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" name="Google Shape;90;p1">
            <a:extLst>
              <a:ext uri="{FF2B5EF4-FFF2-40B4-BE49-F238E27FC236}">
                <a16:creationId xmlns:a16="http://schemas.microsoft.com/office/drawing/2014/main" id="{053CAB3C-01D3-307A-B765-DB89E56FD267}"/>
              </a:ext>
            </a:extLst>
          </p:cNvPr>
          <p:cNvCxnSpPr/>
          <p:nvPr/>
        </p:nvCxnSpPr>
        <p:spPr>
          <a:xfrm>
            <a:off x="388374" y="364575"/>
            <a:ext cx="11415252" cy="0"/>
          </a:xfrm>
          <a:prstGeom prst="straightConnector1">
            <a:avLst/>
          </a:prstGeom>
          <a:noFill/>
          <a:ln w="19050" cap="flat" cmpd="sng">
            <a:solidFill>
              <a:srgbClr val="2691C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" name="Google Shape;88;p1">
            <a:extLst>
              <a:ext uri="{FF2B5EF4-FFF2-40B4-BE49-F238E27FC236}">
                <a16:creationId xmlns:a16="http://schemas.microsoft.com/office/drawing/2014/main" id="{843A480D-A23F-1A8F-080E-E9B0778DF5F8}"/>
              </a:ext>
            </a:extLst>
          </p:cNvPr>
          <p:cNvSpPr txBox="1"/>
          <p:nvPr/>
        </p:nvSpPr>
        <p:spPr>
          <a:xfrm>
            <a:off x="4645457" y="2802248"/>
            <a:ext cx="2901085" cy="5878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2800" b="0" i="0">
                <a:solidFill>
                  <a:srgbClr val="202124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MVP </a:t>
            </a:r>
            <a:r>
              <a:rPr lang="ko-KR" altLang="en-US" sz="2800">
                <a:solidFill>
                  <a:srgbClr val="202124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제안</a:t>
            </a:r>
            <a:r>
              <a:rPr lang="ko-KR" altLang="en-US" sz="2800" b="0" i="0">
                <a:solidFill>
                  <a:srgbClr val="202124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서</a:t>
            </a:r>
            <a:endParaRPr lang="en-US" altLang="ko-KR" sz="2800" b="0" i="0" dirty="0">
              <a:solidFill>
                <a:srgbClr val="202124"/>
              </a:solidFill>
              <a:effectLst/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5B2209C-6979-9157-1F5A-B28B3C5924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0160" y="6542046"/>
            <a:ext cx="1125182" cy="18996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992D8A6A-BAA6-9096-B1E5-F048C86014FA}"/>
              </a:ext>
            </a:extLst>
          </p:cNvPr>
          <p:cNvSpPr/>
          <p:nvPr/>
        </p:nvSpPr>
        <p:spPr bwMode="auto">
          <a:xfrm>
            <a:off x="564623" y="1012726"/>
            <a:ext cx="11135764" cy="4896457"/>
          </a:xfrm>
          <a:prstGeom prst="rect">
            <a:avLst/>
          </a:prstGeom>
          <a:noFill/>
          <a:ln w="3175" cap="flat" cmpd="sng" algn="ctr">
            <a:solidFill>
              <a:srgbClr val="FFFFFF">
                <a:lumMod val="75000"/>
              </a:srgbClr>
            </a:solidFill>
            <a:prstDash val="solid"/>
            <a:headEnd type="none" w="med" len="med"/>
            <a:tailEnd type="none" w="med" len="med"/>
          </a:ln>
          <a:effectLst/>
        </p:spPr>
        <p:txBody>
          <a:bodyPr rtlCol="0" anchor="t"/>
          <a:lstStyle>
            <a:defPPr>
              <a:defRPr lang="ko-KR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latinLnBrk="0">
              <a:lnSpc>
                <a:spcPct val="114000"/>
              </a:lnSpc>
              <a:spcAft>
                <a:spcPts val="400"/>
              </a:spcAft>
              <a:buFont typeface="Arial" panose="020B0604020202020204" pitchFamily="34" charset="0"/>
              <a:buChar char="•"/>
              <a:defRPr/>
            </a:pPr>
            <a:endParaRPr lang="en-US" altLang="ko-KR" sz="1100" dirty="0">
              <a:solidFill>
                <a:srgbClr val="000000"/>
              </a:solidFill>
              <a:latin typeface="+mn-ea"/>
            </a:endParaRPr>
          </a:p>
        </p:txBody>
      </p:sp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9E82A0D5-5563-BD1F-6E05-4BFFF3CA4B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4277535"/>
              </p:ext>
            </p:extLst>
          </p:nvPr>
        </p:nvGraphicFramePr>
        <p:xfrm>
          <a:off x="744427" y="1145754"/>
          <a:ext cx="10776155" cy="4699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93741">
                  <a:extLst>
                    <a:ext uri="{9D8B030D-6E8A-4147-A177-3AD203B41FA5}">
                      <a16:colId xmlns:a16="http://schemas.microsoft.com/office/drawing/2014/main" val="648815269"/>
                    </a:ext>
                  </a:extLst>
                </a:gridCol>
                <a:gridCol w="8482414">
                  <a:extLst>
                    <a:ext uri="{9D8B030D-6E8A-4147-A177-3AD203B41FA5}">
                      <a16:colId xmlns:a16="http://schemas.microsoft.com/office/drawing/2014/main" val="1921105622"/>
                    </a:ext>
                  </a:extLst>
                </a:gridCol>
              </a:tblGrid>
              <a:tr h="93990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>
                          <a:latin typeface="+mj-ea"/>
                          <a:ea typeface="+mj-ea"/>
                        </a:rPr>
                        <a:t>팀명</a:t>
                      </a:r>
                      <a:endParaRPr lang="ko-KR" altLang="en-US" dirty="0">
                        <a:latin typeface="+mj-ea"/>
                        <a:ea typeface="+mj-ea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[TBD]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12804223"/>
                  </a:ext>
                </a:extLst>
              </a:tr>
              <a:tr h="93990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+mj-ea"/>
                          <a:ea typeface="+mj-ea"/>
                        </a:rPr>
                        <a:t>팀원</a:t>
                      </a: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[TBD]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25227288"/>
                  </a:ext>
                </a:extLst>
              </a:tr>
              <a:tr h="93990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+mj-ea"/>
                          <a:ea typeface="+mj-ea"/>
                        </a:rPr>
                        <a:t>서비스명</a:t>
                      </a: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준법자문가 AI Agent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84307777"/>
                  </a:ext>
                </a:extLst>
              </a:tr>
              <a:tr h="93990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+mj-ea"/>
                          <a:ea typeface="+mj-ea"/>
                        </a:rPr>
                        <a:t>주제 </a:t>
                      </a: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지정주제 2. 준법감시·내부통제 AI (Compliance AI)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49380483"/>
                  </a:ext>
                </a:extLst>
              </a:tr>
              <a:tr h="93990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>
                          <a:latin typeface="+mj-ea"/>
                          <a:ea typeface="+mj-ea"/>
                        </a:rPr>
                        <a:t>한줄소개</a:t>
                      </a:r>
                      <a:endParaRPr lang="en-US" altLang="ko-KR" dirty="0">
                        <a:latin typeface="+mj-ea"/>
                        <a:ea typeface="+mj-ea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마케팅 기획서를 입력받아 금융광고 규제 관점에서 통과/주의/위반 등급과 근거 조항·수정안을 함께 제시하는, 온프레미스 sLLM+RAG 기반 준법 1차 검토 보조 Agent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49393612"/>
                  </a:ext>
                </a:extLst>
              </a:tr>
            </a:tbl>
          </a:graphicData>
        </a:graphic>
      </p:graphicFrame>
      <p:cxnSp>
        <p:nvCxnSpPr>
          <p:cNvPr id="7" name="Google Shape;105;p2">
            <a:extLst>
              <a:ext uri="{FF2B5EF4-FFF2-40B4-BE49-F238E27FC236}">
                <a16:creationId xmlns:a16="http://schemas.microsoft.com/office/drawing/2014/main" id="{B1DBEA1A-7DC9-3798-9EAA-C04652D3DCC4}"/>
              </a:ext>
            </a:extLst>
          </p:cNvPr>
          <p:cNvCxnSpPr/>
          <p:nvPr/>
        </p:nvCxnSpPr>
        <p:spPr>
          <a:xfrm>
            <a:off x="388374" y="6415548"/>
            <a:ext cx="11415300" cy="0"/>
          </a:xfrm>
          <a:prstGeom prst="straightConnector1">
            <a:avLst/>
          </a:prstGeom>
          <a:noFill/>
          <a:ln w="19050" cap="flat" cmpd="sng">
            <a:solidFill>
              <a:srgbClr val="2178BA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5" name="Google Shape;99;p2">
            <a:extLst>
              <a:ext uri="{FF2B5EF4-FFF2-40B4-BE49-F238E27FC236}">
                <a16:creationId xmlns:a16="http://schemas.microsoft.com/office/drawing/2014/main" id="{042EBB0F-0210-2C73-6523-51C3A0EB0550}"/>
              </a:ext>
            </a:extLst>
          </p:cNvPr>
          <p:cNvCxnSpPr/>
          <p:nvPr/>
        </p:nvCxnSpPr>
        <p:spPr>
          <a:xfrm>
            <a:off x="388374" y="599767"/>
            <a:ext cx="11415252" cy="0"/>
          </a:xfrm>
          <a:prstGeom prst="straightConnector1">
            <a:avLst/>
          </a:prstGeom>
          <a:noFill/>
          <a:ln w="19050" cap="flat" cmpd="sng">
            <a:solidFill>
              <a:srgbClr val="204B9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" name="Google Shape;101;p2">
            <a:extLst>
              <a:ext uri="{FF2B5EF4-FFF2-40B4-BE49-F238E27FC236}">
                <a16:creationId xmlns:a16="http://schemas.microsoft.com/office/drawing/2014/main" id="{9F08DF74-238C-9073-1522-54C6B39AB5F3}"/>
              </a:ext>
            </a:extLst>
          </p:cNvPr>
          <p:cNvSpPr/>
          <p:nvPr/>
        </p:nvSpPr>
        <p:spPr>
          <a:xfrm>
            <a:off x="462750" y="371175"/>
            <a:ext cx="125700" cy="127800"/>
          </a:xfrm>
          <a:prstGeom prst="rect">
            <a:avLst/>
          </a:prstGeom>
          <a:solidFill>
            <a:srgbClr val="2691C5"/>
          </a:solidFill>
          <a:ln>
            <a:solidFill>
              <a:srgbClr val="FFFFFF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3C7CD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" name="Google Shape;102;p2">
            <a:extLst>
              <a:ext uri="{FF2B5EF4-FFF2-40B4-BE49-F238E27FC236}">
                <a16:creationId xmlns:a16="http://schemas.microsoft.com/office/drawing/2014/main" id="{92B34A29-70DB-0172-C890-5E355A3C66EE}"/>
              </a:ext>
            </a:extLst>
          </p:cNvPr>
          <p:cNvSpPr txBox="1"/>
          <p:nvPr/>
        </p:nvSpPr>
        <p:spPr>
          <a:xfrm>
            <a:off x="606000" y="242625"/>
            <a:ext cx="5432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예선 산출물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– 1. Summary</a:t>
            </a:r>
            <a:endParaRPr sz="13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" name="Google Shape;100;p2">
            <a:extLst>
              <a:ext uri="{FF2B5EF4-FFF2-40B4-BE49-F238E27FC236}">
                <a16:creationId xmlns:a16="http://schemas.microsoft.com/office/drawing/2014/main" id="{FF712513-FC6B-0394-BE94-BD6FA584D466}"/>
              </a:ext>
            </a:extLst>
          </p:cNvPr>
          <p:cNvSpPr txBox="1"/>
          <p:nvPr/>
        </p:nvSpPr>
        <p:spPr>
          <a:xfrm>
            <a:off x="9966782" y="211942"/>
            <a:ext cx="1866339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47474"/>
              </a:buClr>
              <a:buSzPts val="1000"/>
              <a:buFont typeface="Arial"/>
              <a:buNone/>
            </a:pPr>
            <a:r>
              <a:rPr lang="en-US" altLang="ko-KR" sz="1000" b="1" i="0" u="none" strike="noStrike" cap="none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JB</a:t>
            </a:r>
            <a:r>
              <a:rPr lang="ko-KR" altLang="en-US" sz="1000" b="1" i="0" u="none" strike="noStrike" cap="none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금융그룹 </a:t>
            </a:r>
            <a:r>
              <a:rPr lang="en-US" altLang="ko-KR" sz="1000" b="1" i="0" u="none" strike="noStrike" cap="none" dirty="0" err="1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Fin:AI</a:t>
            </a:r>
            <a:r>
              <a:rPr lang="en-US" altLang="ko-KR" sz="1000" b="1" i="0" u="none" strike="noStrike" cap="none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 Challenge</a:t>
            </a:r>
            <a:endParaRPr dirty="0">
              <a:solidFill>
                <a:srgbClr val="AEAEA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4" name="Google Shape;92;p1">
            <a:extLst>
              <a:ext uri="{FF2B5EF4-FFF2-40B4-BE49-F238E27FC236}">
                <a16:creationId xmlns:a16="http://schemas.microsoft.com/office/drawing/2014/main" id="{2F4A3070-AD69-96C2-8039-2626E5B0483E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95670" y="6464707"/>
            <a:ext cx="1007955" cy="353407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84F1CCC0-1626-4345-F4D7-A3CC2416B5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0160" y="6542046"/>
            <a:ext cx="1125182" cy="189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94337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24D7D1-0B19-F66A-84F8-B80017D8AC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B165CAD0-2A02-5E29-8536-ED2B3C3375B1}"/>
              </a:ext>
            </a:extLst>
          </p:cNvPr>
          <p:cNvSpPr/>
          <p:nvPr/>
        </p:nvSpPr>
        <p:spPr bwMode="auto">
          <a:xfrm>
            <a:off x="564623" y="1012726"/>
            <a:ext cx="11135764" cy="4896457"/>
          </a:xfrm>
          <a:prstGeom prst="rect">
            <a:avLst/>
          </a:prstGeom>
          <a:noFill/>
          <a:ln w="3175" cap="flat" cmpd="sng" algn="ctr">
            <a:solidFill>
              <a:srgbClr val="FFFFFF">
                <a:lumMod val="75000"/>
              </a:srgbClr>
            </a:solidFill>
            <a:prstDash val="solid"/>
            <a:headEnd type="none" w="med" len="med"/>
            <a:tailEnd type="none" w="med" len="med"/>
          </a:ln>
          <a:effectLst/>
        </p:spPr>
        <p:txBody>
          <a:bodyPr rtlCol="0" anchor="t"/>
          <a:lstStyle>
            <a:defPPr>
              <a:defRPr lang="ko-KR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latinLnBrk="0">
              <a:lnSpc>
                <a:spcPct val="114000"/>
              </a:lnSpc>
              <a:spcAft>
                <a:spcPts val="400"/>
              </a:spcAft>
              <a:buFont typeface="Arial" panose="020B0604020202020204" pitchFamily="34" charset="0"/>
              <a:buChar char="•"/>
              <a:defRPr/>
            </a:pPr>
            <a:endParaRPr lang="en-US" altLang="ko-KR" sz="110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220991-1956-8C13-7614-0AE6FD9B9483}"/>
              </a:ext>
            </a:extLst>
          </p:cNvPr>
          <p:cNvSpPr txBox="1"/>
          <p:nvPr/>
        </p:nvSpPr>
        <p:spPr>
          <a:xfrm>
            <a:off x="939332" y="1189703"/>
            <a:ext cx="27772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+mj-ea"/>
                <a:ea typeface="+mj-ea"/>
              </a:rPr>
              <a:t>2. </a:t>
            </a:r>
            <a:r>
              <a:rPr lang="ko-KR" altLang="en-US" dirty="0">
                <a:latin typeface="+mj-ea"/>
                <a:ea typeface="+mj-ea"/>
              </a:rPr>
              <a:t>문제 정의</a:t>
            </a:r>
            <a:r>
              <a:rPr lang="en-US" altLang="ko-KR" dirty="0">
                <a:latin typeface="+mj-ea"/>
                <a:ea typeface="+mj-ea"/>
              </a:rPr>
              <a:t>(Problem Definition)</a:t>
            </a:r>
            <a:endParaRPr lang="ko-KR" altLang="en-US" dirty="0">
              <a:latin typeface="+mj-ea"/>
              <a:ea typeface="+mj-ea"/>
            </a:endParaRPr>
          </a:p>
        </p:txBody>
      </p:sp>
      <p:cxnSp>
        <p:nvCxnSpPr>
          <p:cNvPr id="10" name="직선 연결선 3">
            <a:extLst>
              <a:ext uri="{FF2B5EF4-FFF2-40B4-BE49-F238E27FC236}">
                <a16:creationId xmlns:a16="http://schemas.microsoft.com/office/drawing/2014/main" id="{38DA6E6D-E7BA-305C-C09E-8185DC296499}"/>
              </a:ext>
            </a:extLst>
          </p:cNvPr>
          <p:cNvCxnSpPr/>
          <p:nvPr/>
        </p:nvCxnSpPr>
        <p:spPr>
          <a:xfrm>
            <a:off x="968477" y="1559035"/>
            <a:ext cx="10255045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Google Shape;102;p2">
            <a:extLst>
              <a:ext uri="{FF2B5EF4-FFF2-40B4-BE49-F238E27FC236}">
                <a16:creationId xmlns:a16="http://schemas.microsoft.com/office/drawing/2014/main" id="{69F5F16A-E189-D103-8849-37E8D603F1C8}"/>
              </a:ext>
            </a:extLst>
          </p:cNvPr>
          <p:cNvSpPr txBox="1"/>
          <p:nvPr/>
        </p:nvSpPr>
        <p:spPr>
          <a:xfrm>
            <a:off x="606000" y="242625"/>
            <a:ext cx="5432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예선 산출물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– 2. </a:t>
            </a: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문제 정의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(Problem Definition)</a:t>
            </a:r>
            <a:endParaRPr sz="13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6DF507B-AE97-543C-09EA-F8D8E5D08465}"/>
              </a:ext>
            </a:extLst>
          </p:cNvPr>
          <p:cNvSpPr txBox="1"/>
          <p:nvPr/>
        </p:nvSpPr>
        <p:spPr>
          <a:xfrm>
            <a:off x="2664541" y="1957156"/>
            <a:ext cx="7541342" cy="138499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sz="1400"/>
              <a:t>• 대고객 마케팅 콘텐츠 준법 심의가 준법관리자 수작업에 의존 → 심의 지연·품질 편차·휴먼 에러 발생</a:t>
            </a:r>
          </a:p>
          <a:p>
            <a:r>
              <a:rPr sz="1400"/>
              <a:t>• 다국어·다채널 확장 시 심의 리소스가 선형 증가, 규제 변경의 현업 반영이 느림</a:t>
            </a:r>
          </a:p>
          <a:p>
            <a:r>
              <a:rPr sz="1400"/>
              <a:t>• 금소법 제22조·금융광고규제 가이드라인 위반은 제재·평판 리스크로 직결되나, 위반 여부 판단은 맥락 의존적이라 일관성 확보가 어려움</a:t>
            </a:r>
          </a:p>
          <a:p>
            <a:r>
              <a:rPr sz="1400"/>
              <a:t>• 해결 대상: 준법관리자 / 준법지원 인력 (주), 마케팅 콘텐츠 기획자(셀프 사전점검)</a:t>
            </a:r>
          </a:p>
          <a:p>
            <a:r>
              <a:rPr sz="1400"/>
              <a:t>• 기대 변화(KPI): 1차 검토 자동화로 관리자가 ‘검토·승인’에 집중 → 심의 리드타임 단축, 위반 적출률 향상, 판단 근거의 추적가능성 확보</a:t>
            </a:r>
          </a:p>
        </p:txBody>
      </p:sp>
      <p:cxnSp>
        <p:nvCxnSpPr>
          <p:cNvPr id="2" name="Google Shape;105;p2">
            <a:extLst>
              <a:ext uri="{FF2B5EF4-FFF2-40B4-BE49-F238E27FC236}">
                <a16:creationId xmlns:a16="http://schemas.microsoft.com/office/drawing/2014/main" id="{72C68CEE-9277-FB0E-5D76-605741218C00}"/>
              </a:ext>
            </a:extLst>
          </p:cNvPr>
          <p:cNvCxnSpPr/>
          <p:nvPr/>
        </p:nvCxnSpPr>
        <p:spPr>
          <a:xfrm>
            <a:off x="388374" y="6415548"/>
            <a:ext cx="11415300" cy="0"/>
          </a:xfrm>
          <a:prstGeom prst="straightConnector1">
            <a:avLst/>
          </a:prstGeom>
          <a:noFill/>
          <a:ln w="19050" cap="flat" cmpd="sng">
            <a:solidFill>
              <a:srgbClr val="2178BA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" name="Google Shape;99;p2">
            <a:extLst>
              <a:ext uri="{FF2B5EF4-FFF2-40B4-BE49-F238E27FC236}">
                <a16:creationId xmlns:a16="http://schemas.microsoft.com/office/drawing/2014/main" id="{DD13D667-F1EF-84F5-EED9-A9EDD3C109ED}"/>
              </a:ext>
            </a:extLst>
          </p:cNvPr>
          <p:cNvCxnSpPr/>
          <p:nvPr/>
        </p:nvCxnSpPr>
        <p:spPr>
          <a:xfrm>
            <a:off x="388374" y="599767"/>
            <a:ext cx="11415252" cy="0"/>
          </a:xfrm>
          <a:prstGeom prst="straightConnector1">
            <a:avLst/>
          </a:prstGeom>
          <a:noFill/>
          <a:ln w="19050" cap="flat" cmpd="sng">
            <a:solidFill>
              <a:srgbClr val="204B9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8" name="Google Shape;101;p2">
            <a:extLst>
              <a:ext uri="{FF2B5EF4-FFF2-40B4-BE49-F238E27FC236}">
                <a16:creationId xmlns:a16="http://schemas.microsoft.com/office/drawing/2014/main" id="{E8D2E638-900C-0A23-9832-99EFC1069729}"/>
              </a:ext>
            </a:extLst>
          </p:cNvPr>
          <p:cNvSpPr/>
          <p:nvPr/>
        </p:nvSpPr>
        <p:spPr>
          <a:xfrm>
            <a:off x="462750" y="371175"/>
            <a:ext cx="125700" cy="127800"/>
          </a:xfrm>
          <a:prstGeom prst="rect">
            <a:avLst/>
          </a:prstGeom>
          <a:solidFill>
            <a:srgbClr val="2691C5"/>
          </a:solidFill>
          <a:ln>
            <a:solidFill>
              <a:srgbClr val="FFFFFF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3C7CD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" name="Google Shape;100;p2">
            <a:extLst>
              <a:ext uri="{FF2B5EF4-FFF2-40B4-BE49-F238E27FC236}">
                <a16:creationId xmlns:a16="http://schemas.microsoft.com/office/drawing/2014/main" id="{45133C3B-FA3E-F0AB-0179-24B10C81060A}"/>
              </a:ext>
            </a:extLst>
          </p:cNvPr>
          <p:cNvSpPr txBox="1"/>
          <p:nvPr/>
        </p:nvSpPr>
        <p:spPr>
          <a:xfrm>
            <a:off x="9966782" y="211942"/>
            <a:ext cx="1866339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47474"/>
              </a:buClr>
              <a:buSzPts val="1000"/>
              <a:buFont typeface="Arial"/>
              <a:buNone/>
            </a:pPr>
            <a:r>
              <a:rPr lang="en-US" altLang="ko-KR" sz="1000" b="1" i="0" u="none" strike="noStrike" cap="none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JB</a:t>
            </a:r>
            <a:r>
              <a:rPr lang="ko-KR" altLang="en-US" sz="1000" b="1" i="0" u="none" strike="noStrike" cap="none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금융그룹 </a:t>
            </a:r>
            <a:r>
              <a:rPr lang="en-US" altLang="ko-KR" sz="1000" b="1" i="0" u="none" strike="noStrike" cap="none" dirty="0" err="1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Fin:AI</a:t>
            </a:r>
            <a:r>
              <a:rPr lang="en-US" altLang="ko-KR" sz="1000" b="1" i="0" u="none" strike="noStrike" cap="none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 Challenge</a:t>
            </a:r>
            <a:endParaRPr dirty="0">
              <a:solidFill>
                <a:srgbClr val="AEAEA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1" name="Google Shape;92;p1">
            <a:extLst>
              <a:ext uri="{FF2B5EF4-FFF2-40B4-BE49-F238E27FC236}">
                <a16:creationId xmlns:a16="http://schemas.microsoft.com/office/drawing/2014/main" id="{61296DF9-B7FF-0591-294E-C089D51449C1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795670" y="6464707"/>
            <a:ext cx="1007955" cy="3534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DD1F100A-A05D-DBAD-2AD7-53EFD88E74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160" y="6542046"/>
            <a:ext cx="1125182" cy="189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86990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9E1803-0BCB-CDD6-42D3-235F3A36E7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966A8299-6D51-DAF9-3F23-456F5D4538BD}"/>
              </a:ext>
            </a:extLst>
          </p:cNvPr>
          <p:cNvSpPr/>
          <p:nvPr/>
        </p:nvSpPr>
        <p:spPr bwMode="auto">
          <a:xfrm>
            <a:off x="564623" y="1012726"/>
            <a:ext cx="11135764" cy="4896457"/>
          </a:xfrm>
          <a:prstGeom prst="rect">
            <a:avLst/>
          </a:prstGeom>
          <a:noFill/>
          <a:ln w="3175" cap="flat" cmpd="sng" algn="ctr">
            <a:solidFill>
              <a:srgbClr val="FFFFFF">
                <a:lumMod val="75000"/>
              </a:srgbClr>
            </a:solidFill>
            <a:prstDash val="solid"/>
            <a:headEnd type="none" w="med" len="med"/>
            <a:tailEnd type="none" w="med" len="med"/>
          </a:ln>
          <a:effectLst/>
        </p:spPr>
        <p:txBody>
          <a:bodyPr rtlCol="0" anchor="t"/>
          <a:lstStyle>
            <a:defPPr>
              <a:defRPr lang="ko-KR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latinLnBrk="0">
              <a:lnSpc>
                <a:spcPct val="114000"/>
              </a:lnSpc>
              <a:spcAft>
                <a:spcPts val="400"/>
              </a:spcAft>
              <a:buFont typeface="Arial" panose="020B0604020202020204" pitchFamily="34" charset="0"/>
              <a:buChar char="•"/>
              <a:defRPr/>
            </a:pPr>
            <a:endParaRPr lang="en-US" altLang="ko-KR" sz="110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C76D45-1367-695A-8B79-BFC4D4D7BA5B}"/>
              </a:ext>
            </a:extLst>
          </p:cNvPr>
          <p:cNvSpPr txBox="1"/>
          <p:nvPr/>
        </p:nvSpPr>
        <p:spPr>
          <a:xfrm>
            <a:off x="939332" y="1189703"/>
            <a:ext cx="33868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+mj-ea"/>
                <a:ea typeface="+mj-ea"/>
              </a:rPr>
              <a:t>3. </a:t>
            </a:r>
            <a:r>
              <a:rPr lang="ko-KR" altLang="en-US" dirty="0">
                <a:latin typeface="+mj-ea"/>
                <a:ea typeface="+mj-ea"/>
              </a:rPr>
              <a:t>제안 솔루션 개요 </a:t>
            </a:r>
            <a:r>
              <a:rPr lang="en-US" altLang="ko-KR" dirty="0">
                <a:latin typeface="+mj-ea"/>
                <a:ea typeface="+mj-ea"/>
              </a:rPr>
              <a:t>(Solution Overview)</a:t>
            </a:r>
            <a:endParaRPr lang="ko-KR" altLang="en-US" dirty="0">
              <a:latin typeface="+mj-ea"/>
              <a:ea typeface="+mj-ea"/>
            </a:endParaRPr>
          </a:p>
        </p:txBody>
      </p:sp>
      <p:cxnSp>
        <p:nvCxnSpPr>
          <p:cNvPr id="10" name="직선 연결선 3">
            <a:extLst>
              <a:ext uri="{FF2B5EF4-FFF2-40B4-BE49-F238E27FC236}">
                <a16:creationId xmlns:a16="http://schemas.microsoft.com/office/drawing/2014/main" id="{1D14950D-817F-F6EB-EF9A-D1112359DB87}"/>
              </a:ext>
            </a:extLst>
          </p:cNvPr>
          <p:cNvCxnSpPr/>
          <p:nvPr/>
        </p:nvCxnSpPr>
        <p:spPr>
          <a:xfrm>
            <a:off x="968477" y="1559035"/>
            <a:ext cx="10255045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Google Shape;102;p2">
            <a:extLst>
              <a:ext uri="{FF2B5EF4-FFF2-40B4-BE49-F238E27FC236}">
                <a16:creationId xmlns:a16="http://schemas.microsoft.com/office/drawing/2014/main" id="{48D5AACD-782A-F75A-7057-CC33540D6F74}"/>
              </a:ext>
            </a:extLst>
          </p:cNvPr>
          <p:cNvSpPr txBox="1"/>
          <p:nvPr/>
        </p:nvSpPr>
        <p:spPr>
          <a:xfrm>
            <a:off x="606000" y="242625"/>
            <a:ext cx="5432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예선 산출물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– 3. </a:t>
            </a: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제안 솔루션 개요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(Solution Overview)</a:t>
            </a:r>
            <a:endParaRPr sz="13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D23B1F9-D3F2-5329-8A08-D8762AD85FE0}"/>
              </a:ext>
            </a:extLst>
          </p:cNvPr>
          <p:cNvSpPr txBox="1"/>
          <p:nvPr/>
        </p:nvSpPr>
        <p:spPr>
          <a:xfrm>
            <a:off x="2664541" y="1957156"/>
            <a:ext cx="7541342" cy="116955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sz="1400"/>
              <a:t>• 포지셔닝: ‘AI가 자동 승인’이 아닌 ‘AI가 1차 검토 초안 → 관리자가 최종 승인’ 보조 도구</a:t>
            </a:r>
          </a:p>
          <a:p>
            <a:r>
              <a:rPr sz="1400"/>
              <a:t>• 입력: 마케팅 기획서(HWP / HWPX / PDF) — 표 구조 보존 파싱</a:t>
            </a:r>
          </a:p>
          <a:p>
            <a:r>
              <a:rPr sz="1400"/>
              <a:t>• 처리: ① 문서 파싱·구조화 → ② 광고 요소 추출(상품·혜택·조건·표현) → ③ 규제 KB RAG 검색 → ④ 규칙 1차 필터 + sLLM 2차 맥락 판단 → ⑤ 근거 조항 매핑 + 수정안 생성</a:t>
            </a:r>
          </a:p>
          <a:p>
            <a:r>
              <a:rPr sz="1400"/>
              <a:t>• 출력: 항목별 ‘통과 / 주의 / 위반’ 3단계 등급 + 근거 조항(법령명·조·항·호·시행일) + 대체 문구 수정안</a:t>
            </a:r>
          </a:p>
          <a:p>
            <a:r>
              <a:rPr sz="1400"/>
              <a:t>• 전략: 완전 온프레미스 sLLM + RAG 단독 구성 — 금융 내부 문서를 외부 API로 보내지 않음</a:t>
            </a:r>
          </a:p>
        </p:txBody>
      </p:sp>
      <p:cxnSp>
        <p:nvCxnSpPr>
          <p:cNvPr id="2" name="Google Shape;105;p2">
            <a:extLst>
              <a:ext uri="{FF2B5EF4-FFF2-40B4-BE49-F238E27FC236}">
                <a16:creationId xmlns:a16="http://schemas.microsoft.com/office/drawing/2014/main" id="{233CF2AF-1B9B-3631-BC06-AD7510F434FD}"/>
              </a:ext>
            </a:extLst>
          </p:cNvPr>
          <p:cNvCxnSpPr/>
          <p:nvPr/>
        </p:nvCxnSpPr>
        <p:spPr>
          <a:xfrm>
            <a:off x="388374" y="6415548"/>
            <a:ext cx="11415300" cy="0"/>
          </a:xfrm>
          <a:prstGeom prst="straightConnector1">
            <a:avLst/>
          </a:prstGeom>
          <a:noFill/>
          <a:ln w="19050" cap="flat" cmpd="sng">
            <a:solidFill>
              <a:srgbClr val="2178BA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" name="Google Shape;99;p2">
            <a:extLst>
              <a:ext uri="{FF2B5EF4-FFF2-40B4-BE49-F238E27FC236}">
                <a16:creationId xmlns:a16="http://schemas.microsoft.com/office/drawing/2014/main" id="{3BB4E210-05A3-8500-833B-493E20BFD22C}"/>
              </a:ext>
            </a:extLst>
          </p:cNvPr>
          <p:cNvCxnSpPr/>
          <p:nvPr/>
        </p:nvCxnSpPr>
        <p:spPr>
          <a:xfrm>
            <a:off x="388374" y="599767"/>
            <a:ext cx="11415252" cy="0"/>
          </a:xfrm>
          <a:prstGeom prst="straightConnector1">
            <a:avLst/>
          </a:prstGeom>
          <a:noFill/>
          <a:ln w="19050" cap="flat" cmpd="sng">
            <a:solidFill>
              <a:srgbClr val="204B9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8" name="Google Shape;101;p2">
            <a:extLst>
              <a:ext uri="{FF2B5EF4-FFF2-40B4-BE49-F238E27FC236}">
                <a16:creationId xmlns:a16="http://schemas.microsoft.com/office/drawing/2014/main" id="{C159738A-FC36-C4DB-30D8-914020758657}"/>
              </a:ext>
            </a:extLst>
          </p:cNvPr>
          <p:cNvSpPr/>
          <p:nvPr/>
        </p:nvSpPr>
        <p:spPr>
          <a:xfrm>
            <a:off x="462750" y="371175"/>
            <a:ext cx="125700" cy="127800"/>
          </a:xfrm>
          <a:prstGeom prst="rect">
            <a:avLst/>
          </a:prstGeom>
          <a:solidFill>
            <a:srgbClr val="2691C5"/>
          </a:solidFill>
          <a:ln>
            <a:solidFill>
              <a:srgbClr val="FFFFFF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3C7CD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" name="Google Shape;100;p2">
            <a:extLst>
              <a:ext uri="{FF2B5EF4-FFF2-40B4-BE49-F238E27FC236}">
                <a16:creationId xmlns:a16="http://schemas.microsoft.com/office/drawing/2014/main" id="{7857A5BB-5018-1C11-40B9-97290B090E61}"/>
              </a:ext>
            </a:extLst>
          </p:cNvPr>
          <p:cNvSpPr txBox="1"/>
          <p:nvPr/>
        </p:nvSpPr>
        <p:spPr>
          <a:xfrm>
            <a:off x="9966782" y="211942"/>
            <a:ext cx="1866339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47474"/>
              </a:buClr>
              <a:buSzPts val="1000"/>
              <a:buFont typeface="Arial"/>
              <a:buNone/>
            </a:pPr>
            <a:r>
              <a:rPr lang="en-US" altLang="ko-KR" sz="1000" b="1" i="0" u="none" strike="noStrike" cap="none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JB</a:t>
            </a:r>
            <a:r>
              <a:rPr lang="ko-KR" altLang="en-US" sz="1000" b="1" i="0" u="none" strike="noStrike" cap="none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금융그룹 </a:t>
            </a:r>
            <a:r>
              <a:rPr lang="en-US" altLang="ko-KR" sz="1000" b="1" i="0" u="none" strike="noStrike" cap="none" dirty="0" err="1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Fin:AI</a:t>
            </a:r>
            <a:r>
              <a:rPr lang="en-US" altLang="ko-KR" sz="1000" b="1" i="0" u="none" strike="noStrike" cap="none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 Challenge</a:t>
            </a:r>
            <a:endParaRPr dirty="0">
              <a:solidFill>
                <a:srgbClr val="AEAEA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1" name="Google Shape;92;p1">
            <a:extLst>
              <a:ext uri="{FF2B5EF4-FFF2-40B4-BE49-F238E27FC236}">
                <a16:creationId xmlns:a16="http://schemas.microsoft.com/office/drawing/2014/main" id="{3A9837C3-DD0A-3D3B-B638-64B3302775E4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795670" y="6464707"/>
            <a:ext cx="1007955" cy="3534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90AE3F27-92C5-02B1-FF71-7807DD32AC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160" y="6542046"/>
            <a:ext cx="1125182" cy="189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22826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B6C246-B742-4CC5-4DE1-3D3A54988E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87D249F0-0136-43E2-7E93-8F61EA5FFA04}"/>
              </a:ext>
            </a:extLst>
          </p:cNvPr>
          <p:cNvSpPr/>
          <p:nvPr/>
        </p:nvSpPr>
        <p:spPr bwMode="auto">
          <a:xfrm>
            <a:off x="564623" y="1012726"/>
            <a:ext cx="11135764" cy="4896457"/>
          </a:xfrm>
          <a:prstGeom prst="rect">
            <a:avLst/>
          </a:prstGeom>
          <a:noFill/>
          <a:ln w="3175" cap="flat" cmpd="sng" algn="ctr">
            <a:solidFill>
              <a:srgbClr val="FFFFFF">
                <a:lumMod val="75000"/>
              </a:srgbClr>
            </a:solidFill>
            <a:prstDash val="solid"/>
            <a:headEnd type="none" w="med" len="med"/>
            <a:tailEnd type="none" w="med" len="med"/>
          </a:ln>
          <a:effectLst/>
        </p:spPr>
        <p:txBody>
          <a:bodyPr rtlCol="0" anchor="t"/>
          <a:lstStyle>
            <a:defPPr>
              <a:defRPr lang="ko-KR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latinLnBrk="0">
              <a:lnSpc>
                <a:spcPct val="114000"/>
              </a:lnSpc>
              <a:spcAft>
                <a:spcPts val="400"/>
              </a:spcAft>
              <a:buFont typeface="Arial" panose="020B0604020202020204" pitchFamily="34" charset="0"/>
              <a:buChar char="•"/>
              <a:defRPr/>
            </a:pPr>
            <a:endParaRPr lang="en-US" altLang="ko-KR" sz="110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5A9B714-0CA5-94B7-0D36-144E9F422B5C}"/>
              </a:ext>
            </a:extLst>
          </p:cNvPr>
          <p:cNvSpPr txBox="1"/>
          <p:nvPr/>
        </p:nvSpPr>
        <p:spPr>
          <a:xfrm>
            <a:off x="939332" y="1189703"/>
            <a:ext cx="27969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+mj-ea"/>
                <a:ea typeface="+mj-ea"/>
              </a:rPr>
              <a:t>4. </a:t>
            </a:r>
            <a:r>
              <a:rPr lang="ko-KR" altLang="en-US" dirty="0">
                <a:latin typeface="+mj-ea"/>
                <a:ea typeface="+mj-ea"/>
              </a:rPr>
              <a:t>주요</a:t>
            </a:r>
            <a:r>
              <a:rPr lang="en-US" altLang="ko-KR" dirty="0">
                <a:latin typeface="+mj-ea"/>
                <a:ea typeface="+mj-ea"/>
              </a:rPr>
              <a:t> </a:t>
            </a:r>
            <a:r>
              <a:rPr lang="ko-KR" altLang="en-US" dirty="0">
                <a:latin typeface="+mj-ea"/>
                <a:ea typeface="+mj-ea"/>
              </a:rPr>
              <a:t>기능 정의 </a:t>
            </a:r>
            <a:r>
              <a:rPr lang="en-US" altLang="ko-KR" dirty="0">
                <a:latin typeface="+mj-ea"/>
                <a:ea typeface="+mj-ea"/>
              </a:rPr>
              <a:t>(Key Features)</a:t>
            </a:r>
            <a:endParaRPr lang="ko-KR" altLang="en-US" dirty="0">
              <a:latin typeface="+mj-ea"/>
              <a:ea typeface="+mj-ea"/>
            </a:endParaRPr>
          </a:p>
        </p:txBody>
      </p:sp>
      <p:cxnSp>
        <p:nvCxnSpPr>
          <p:cNvPr id="10" name="직선 연결선 3">
            <a:extLst>
              <a:ext uri="{FF2B5EF4-FFF2-40B4-BE49-F238E27FC236}">
                <a16:creationId xmlns:a16="http://schemas.microsoft.com/office/drawing/2014/main" id="{21EE5127-5102-7956-BFA7-7895865F1915}"/>
              </a:ext>
            </a:extLst>
          </p:cNvPr>
          <p:cNvCxnSpPr/>
          <p:nvPr/>
        </p:nvCxnSpPr>
        <p:spPr>
          <a:xfrm>
            <a:off x="968477" y="1559035"/>
            <a:ext cx="10255045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Google Shape;102;p2">
            <a:extLst>
              <a:ext uri="{FF2B5EF4-FFF2-40B4-BE49-F238E27FC236}">
                <a16:creationId xmlns:a16="http://schemas.microsoft.com/office/drawing/2014/main" id="{47A9B20E-0365-DB76-C6A1-A82BF7552CE2}"/>
              </a:ext>
            </a:extLst>
          </p:cNvPr>
          <p:cNvSpPr txBox="1"/>
          <p:nvPr/>
        </p:nvSpPr>
        <p:spPr>
          <a:xfrm>
            <a:off x="606000" y="242625"/>
            <a:ext cx="5432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예선 산출물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– 4. </a:t>
            </a: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주요 기능 정의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(Key Features)</a:t>
            </a:r>
            <a:endParaRPr sz="13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A6F62E8-93AF-B710-4D80-CB1BA79AD5F5}"/>
              </a:ext>
            </a:extLst>
          </p:cNvPr>
          <p:cNvSpPr txBox="1"/>
          <p:nvPr/>
        </p:nvSpPr>
        <p:spPr>
          <a:xfrm>
            <a:off x="2664541" y="1957156"/>
            <a:ext cx="7541342" cy="116955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sz="1200"/>
              <a:t>• F-01 문서 파싱(P0): HWP/HWPX/PDF → 섹션·문단·표 구조 보존 텍스트화</a:t>
            </a:r>
          </a:p>
          <a:p>
            <a:r>
              <a:rPr sz="1200"/>
              <a:t>• F-02 광고 요소 추출(P0): 상품명·유형, 혜택/금리/수익률, 조건·면책, 단정/비교/강조 표현, 외국어 블록 식별</a:t>
            </a:r>
          </a:p>
          <a:p>
            <a:r>
              <a:rPr sz="1200"/>
              <a:t>• F-03 규제 KB RAG 검색(P0): 추출 요소 기반 조항 청크 검색, 법령명·조항·시행일 메타데이터 반환</a:t>
            </a:r>
          </a:p>
          <a:p>
            <a:r>
              <a:rPr sz="1200"/>
              <a:t>• F-04 준법성 판별(P0): 규칙 1차 필터(금지 표현 사전·필수 고지 누락) + sLLM 2차 맥락 판단의 하이브리드</a:t>
            </a:r>
          </a:p>
          <a:p>
            <a:r>
              <a:rPr sz="1200"/>
              <a:t>• F-05 표현 리스크 분석(P0): 과장·단정, 혜택/불이익 불균형, 오인 유발·부당 비교 평가</a:t>
            </a:r>
          </a:p>
          <a:p>
            <a:r>
              <a:rPr sz="1200"/>
              <a:t>• F-06 근거 조항 매핑(P0): 모든 주의·위반에 대해 1:N 조항 연결, 출처(법령명+조·항·호+시행일) 표기</a:t>
            </a:r>
          </a:p>
          <a:p>
            <a:r>
              <a:rPr sz="1200"/>
              <a:t>• F-07 수정안 생성(P0): 원문 → 수정안 → 수정 근거 3단 제시, 단순 삭제가 아닌 대체 문구 우선</a:t>
            </a:r>
          </a:p>
          <a:p>
            <a:r>
              <a:rPr sz="1200"/>
              <a:t>• F-08 종합 검토 리포트(P0): 문서 종합 등급 + 항목별 [원문/등급/근거/수정안], 화면 출력(+P1 PDF·HWP 내보내기)</a:t>
            </a:r>
          </a:p>
          <a:p>
            <a:r>
              <a:rPr sz="1200"/>
              <a:t>• F-09 규제 업데이트 인제스천(P1) · F-10 다국어 검토(P2)</a:t>
            </a:r>
          </a:p>
        </p:txBody>
      </p:sp>
      <p:cxnSp>
        <p:nvCxnSpPr>
          <p:cNvPr id="2" name="Google Shape;105;p2">
            <a:extLst>
              <a:ext uri="{FF2B5EF4-FFF2-40B4-BE49-F238E27FC236}">
                <a16:creationId xmlns:a16="http://schemas.microsoft.com/office/drawing/2014/main" id="{7B1350C5-8319-6983-B16E-22480553B209}"/>
              </a:ext>
            </a:extLst>
          </p:cNvPr>
          <p:cNvCxnSpPr/>
          <p:nvPr/>
        </p:nvCxnSpPr>
        <p:spPr>
          <a:xfrm>
            <a:off x="388374" y="6415548"/>
            <a:ext cx="11415300" cy="0"/>
          </a:xfrm>
          <a:prstGeom prst="straightConnector1">
            <a:avLst/>
          </a:prstGeom>
          <a:noFill/>
          <a:ln w="19050" cap="flat" cmpd="sng">
            <a:solidFill>
              <a:srgbClr val="2178BA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" name="Google Shape;99;p2">
            <a:extLst>
              <a:ext uri="{FF2B5EF4-FFF2-40B4-BE49-F238E27FC236}">
                <a16:creationId xmlns:a16="http://schemas.microsoft.com/office/drawing/2014/main" id="{F7E7F1CC-8A52-054C-1D46-3762F4542CE9}"/>
              </a:ext>
            </a:extLst>
          </p:cNvPr>
          <p:cNvCxnSpPr/>
          <p:nvPr/>
        </p:nvCxnSpPr>
        <p:spPr>
          <a:xfrm>
            <a:off x="388374" y="599767"/>
            <a:ext cx="11415252" cy="0"/>
          </a:xfrm>
          <a:prstGeom prst="straightConnector1">
            <a:avLst/>
          </a:prstGeom>
          <a:noFill/>
          <a:ln w="19050" cap="flat" cmpd="sng">
            <a:solidFill>
              <a:srgbClr val="204B9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8" name="Google Shape;101;p2">
            <a:extLst>
              <a:ext uri="{FF2B5EF4-FFF2-40B4-BE49-F238E27FC236}">
                <a16:creationId xmlns:a16="http://schemas.microsoft.com/office/drawing/2014/main" id="{5B08C8C1-2BAB-D8AA-20BE-0327E50B28A8}"/>
              </a:ext>
            </a:extLst>
          </p:cNvPr>
          <p:cNvSpPr/>
          <p:nvPr/>
        </p:nvSpPr>
        <p:spPr>
          <a:xfrm>
            <a:off x="462750" y="371175"/>
            <a:ext cx="125700" cy="127800"/>
          </a:xfrm>
          <a:prstGeom prst="rect">
            <a:avLst/>
          </a:prstGeom>
          <a:solidFill>
            <a:srgbClr val="2691C5"/>
          </a:solidFill>
          <a:ln>
            <a:solidFill>
              <a:srgbClr val="FFFFFF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3C7CD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" name="Google Shape;100;p2">
            <a:extLst>
              <a:ext uri="{FF2B5EF4-FFF2-40B4-BE49-F238E27FC236}">
                <a16:creationId xmlns:a16="http://schemas.microsoft.com/office/drawing/2014/main" id="{7CE2EA03-7386-45E6-06B4-031FC4A4B110}"/>
              </a:ext>
            </a:extLst>
          </p:cNvPr>
          <p:cNvSpPr txBox="1"/>
          <p:nvPr/>
        </p:nvSpPr>
        <p:spPr>
          <a:xfrm>
            <a:off x="9966782" y="211942"/>
            <a:ext cx="1866339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47474"/>
              </a:buClr>
              <a:buSzPts val="1000"/>
              <a:buFont typeface="Arial"/>
              <a:buNone/>
            </a:pPr>
            <a:r>
              <a:rPr lang="en-US" altLang="ko-KR" sz="1000" b="1" i="0" u="none" strike="noStrike" cap="none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JB</a:t>
            </a:r>
            <a:r>
              <a:rPr lang="ko-KR" altLang="en-US" sz="1000" b="1" i="0" u="none" strike="noStrike" cap="none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금융그룹 </a:t>
            </a:r>
            <a:r>
              <a:rPr lang="en-US" altLang="ko-KR" sz="1000" b="1" i="0" u="none" strike="noStrike" cap="none" dirty="0" err="1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Fin:AI</a:t>
            </a:r>
            <a:r>
              <a:rPr lang="en-US" altLang="ko-KR" sz="1000" b="1" i="0" u="none" strike="noStrike" cap="none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 Challenge</a:t>
            </a:r>
            <a:endParaRPr dirty="0">
              <a:solidFill>
                <a:srgbClr val="AEAEA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1" name="Google Shape;92;p1">
            <a:extLst>
              <a:ext uri="{FF2B5EF4-FFF2-40B4-BE49-F238E27FC236}">
                <a16:creationId xmlns:a16="http://schemas.microsoft.com/office/drawing/2014/main" id="{27C3F581-9604-F61B-A136-EF77720F32B6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795670" y="6464707"/>
            <a:ext cx="1007955" cy="3534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F7DE36F9-BC8E-801E-6E7C-0D03E6A9F1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160" y="6542046"/>
            <a:ext cx="1125182" cy="189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44161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ABD8DB-3443-A102-9C42-2C56691F71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F743A085-6411-0EFC-A699-01660D683A67}"/>
              </a:ext>
            </a:extLst>
          </p:cNvPr>
          <p:cNvSpPr/>
          <p:nvPr/>
        </p:nvSpPr>
        <p:spPr bwMode="auto">
          <a:xfrm>
            <a:off x="564623" y="1012726"/>
            <a:ext cx="11135764" cy="4896457"/>
          </a:xfrm>
          <a:prstGeom prst="rect">
            <a:avLst/>
          </a:prstGeom>
          <a:noFill/>
          <a:ln w="3175" cap="flat" cmpd="sng" algn="ctr">
            <a:solidFill>
              <a:srgbClr val="FFFFFF">
                <a:lumMod val="75000"/>
              </a:srgbClr>
            </a:solidFill>
            <a:prstDash val="solid"/>
            <a:headEnd type="none" w="med" len="med"/>
            <a:tailEnd type="none" w="med" len="med"/>
          </a:ln>
          <a:effectLst/>
        </p:spPr>
        <p:txBody>
          <a:bodyPr rtlCol="0" anchor="t"/>
          <a:lstStyle>
            <a:defPPr>
              <a:defRPr lang="ko-KR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latinLnBrk="0">
              <a:lnSpc>
                <a:spcPct val="114000"/>
              </a:lnSpc>
              <a:spcAft>
                <a:spcPts val="400"/>
              </a:spcAft>
              <a:buFont typeface="Arial" panose="020B0604020202020204" pitchFamily="34" charset="0"/>
              <a:buChar char="•"/>
              <a:defRPr/>
            </a:pPr>
            <a:endParaRPr lang="en-US" altLang="ko-KR" sz="110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F6FF1F-0E89-66A7-7227-BC7AA6E81C3C}"/>
              </a:ext>
            </a:extLst>
          </p:cNvPr>
          <p:cNvSpPr txBox="1"/>
          <p:nvPr/>
        </p:nvSpPr>
        <p:spPr>
          <a:xfrm>
            <a:off x="939332" y="1189703"/>
            <a:ext cx="39669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+mj-ea"/>
                <a:ea typeface="+mj-ea"/>
              </a:rPr>
              <a:t>5. </a:t>
            </a:r>
            <a:r>
              <a:rPr lang="ko-KR" altLang="en-US" dirty="0">
                <a:latin typeface="+mj-ea"/>
                <a:ea typeface="+mj-ea"/>
              </a:rPr>
              <a:t>데이터 및 기술 활용 </a:t>
            </a:r>
            <a:r>
              <a:rPr lang="en-US" altLang="ko-KR" dirty="0">
                <a:latin typeface="+mj-ea"/>
                <a:ea typeface="+mj-ea"/>
              </a:rPr>
              <a:t>(Data &amp; Tech)</a:t>
            </a:r>
            <a:endParaRPr lang="ko-KR" altLang="en-US" dirty="0">
              <a:latin typeface="+mj-ea"/>
              <a:ea typeface="+mj-ea"/>
            </a:endParaRPr>
          </a:p>
        </p:txBody>
      </p:sp>
      <p:cxnSp>
        <p:nvCxnSpPr>
          <p:cNvPr id="10" name="직선 연결선 3">
            <a:extLst>
              <a:ext uri="{FF2B5EF4-FFF2-40B4-BE49-F238E27FC236}">
                <a16:creationId xmlns:a16="http://schemas.microsoft.com/office/drawing/2014/main" id="{6E9B4B97-E58C-7529-3DC0-F31DEFF65D1B}"/>
              </a:ext>
            </a:extLst>
          </p:cNvPr>
          <p:cNvCxnSpPr/>
          <p:nvPr/>
        </p:nvCxnSpPr>
        <p:spPr>
          <a:xfrm>
            <a:off x="968477" y="1559035"/>
            <a:ext cx="10255045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Google Shape;102;p2">
            <a:extLst>
              <a:ext uri="{FF2B5EF4-FFF2-40B4-BE49-F238E27FC236}">
                <a16:creationId xmlns:a16="http://schemas.microsoft.com/office/drawing/2014/main" id="{FA49E26B-9CE5-618A-B798-389BF794A1C3}"/>
              </a:ext>
            </a:extLst>
          </p:cNvPr>
          <p:cNvSpPr txBox="1"/>
          <p:nvPr/>
        </p:nvSpPr>
        <p:spPr>
          <a:xfrm>
            <a:off x="606000" y="242625"/>
            <a:ext cx="5432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예선 산출물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- 5. </a:t>
            </a: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데이터 및 기술 활용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(Data &amp; Tech)</a:t>
            </a:r>
            <a:endParaRPr sz="13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53CA2B-7F81-268B-9F89-96F81CA76BDD}"/>
              </a:ext>
            </a:extLst>
          </p:cNvPr>
          <p:cNvSpPr txBox="1"/>
          <p:nvPr/>
        </p:nvSpPr>
        <p:spPr>
          <a:xfrm>
            <a:off x="2664541" y="1957156"/>
            <a:ext cx="7541342" cy="138499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sz="1200"/>
              <a:t>• 활용 데이터(KB): 금소법 제22조, 금융광고규제 가이드라인(금융위, 2021), 표시·광고 심사지침, 은행연합회 자율심의 기준, 상품 유형별 필수 고지사항</a:t>
            </a:r>
          </a:p>
          <a:p>
            <a:r>
              <a:rPr sz="1200"/>
              <a:t>• 데이터 처리: 청크에 ‘법령명·조·항·호·시행일’ 메타데이터 부착 → 근거 표기·검증 가능성 확보</a:t>
            </a:r>
          </a:p>
          <a:p>
            <a:r>
              <a:rPr sz="1200"/>
              <a:t>• 문서 파싱: HWP/HWPX는 rhwp(Rust 엔진+PyO3) 또는 hwpparser, PDF는 MinerU(1차)+Docling(폴백) — 외부 API 파서 배제</a:t>
            </a:r>
          </a:p>
          <a:p>
            <a:r>
              <a:rPr sz="1200"/>
              <a:t>• 임베딩: 한국어 강한 모델(BGE-m3 / KURE / ko-sroberta 후보), 벡터DB는 ChromaDB</a:t>
            </a:r>
          </a:p>
          <a:p>
            <a:r>
              <a:rPr sz="1200"/>
              <a:t>• sLLM: Ollama 기반 7B~14B 중형급(Qwen2.5 / EXAONE / Gemma2 후보) — 한국어 법령 이해·지시이행·로컬 구동성 기준 선정</a:t>
            </a:r>
          </a:p>
          <a:p>
            <a:r>
              <a:rPr sz="1200"/>
              <a:t>• 아키텍처: Spring Boot(게이트웨이·인증·승인 워크플로우) + Python FastAPI(파싱·임베딩·RAG·sLLM 추론) 폴리글랏</a:t>
            </a:r>
          </a:p>
          <a:p>
            <a:r>
              <a:rPr sz="1200"/>
              <a:t>• 기술적 제약·완화: ①sLLM 추론 한계→규칙 1차로 난이도 분담  ②근거 할루시네이션→KB 청크 메타데이터만 인용, 미검증 시 ‘근거 미확인’ 표기  ③HWP 파싱 난이도→hwpx 우선·구형 hwp는 명시적 에러+대체 안내  ④KB 최신성→F-09 인제스천+시행일 버전 관리</a:t>
            </a:r>
          </a:p>
        </p:txBody>
      </p:sp>
      <p:cxnSp>
        <p:nvCxnSpPr>
          <p:cNvPr id="2" name="Google Shape;105;p2">
            <a:extLst>
              <a:ext uri="{FF2B5EF4-FFF2-40B4-BE49-F238E27FC236}">
                <a16:creationId xmlns:a16="http://schemas.microsoft.com/office/drawing/2014/main" id="{079A4C84-B810-1D03-C217-CA40A93EBF16}"/>
              </a:ext>
            </a:extLst>
          </p:cNvPr>
          <p:cNvCxnSpPr/>
          <p:nvPr/>
        </p:nvCxnSpPr>
        <p:spPr>
          <a:xfrm>
            <a:off x="388374" y="6415548"/>
            <a:ext cx="11415300" cy="0"/>
          </a:xfrm>
          <a:prstGeom prst="straightConnector1">
            <a:avLst/>
          </a:prstGeom>
          <a:noFill/>
          <a:ln w="19050" cap="flat" cmpd="sng">
            <a:solidFill>
              <a:srgbClr val="2178BA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" name="Google Shape;99;p2">
            <a:extLst>
              <a:ext uri="{FF2B5EF4-FFF2-40B4-BE49-F238E27FC236}">
                <a16:creationId xmlns:a16="http://schemas.microsoft.com/office/drawing/2014/main" id="{FEFA25AC-315F-E1A0-5965-0ADA362A1EDC}"/>
              </a:ext>
            </a:extLst>
          </p:cNvPr>
          <p:cNvCxnSpPr/>
          <p:nvPr/>
        </p:nvCxnSpPr>
        <p:spPr>
          <a:xfrm>
            <a:off x="388374" y="599767"/>
            <a:ext cx="11415252" cy="0"/>
          </a:xfrm>
          <a:prstGeom prst="straightConnector1">
            <a:avLst/>
          </a:prstGeom>
          <a:noFill/>
          <a:ln w="19050" cap="flat" cmpd="sng">
            <a:solidFill>
              <a:srgbClr val="204B9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8" name="Google Shape;101;p2">
            <a:extLst>
              <a:ext uri="{FF2B5EF4-FFF2-40B4-BE49-F238E27FC236}">
                <a16:creationId xmlns:a16="http://schemas.microsoft.com/office/drawing/2014/main" id="{C3FB278B-321F-4FD4-1029-71569634D73A}"/>
              </a:ext>
            </a:extLst>
          </p:cNvPr>
          <p:cNvSpPr/>
          <p:nvPr/>
        </p:nvSpPr>
        <p:spPr>
          <a:xfrm>
            <a:off x="462750" y="371175"/>
            <a:ext cx="125700" cy="127800"/>
          </a:xfrm>
          <a:prstGeom prst="rect">
            <a:avLst/>
          </a:prstGeom>
          <a:solidFill>
            <a:srgbClr val="2691C5"/>
          </a:solidFill>
          <a:ln>
            <a:solidFill>
              <a:srgbClr val="FFFFFF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3C7CD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" name="Google Shape;100;p2">
            <a:extLst>
              <a:ext uri="{FF2B5EF4-FFF2-40B4-BE49-F238E27FC236}">
                <a16:creationId xmlns:a16="http://schemas.microsoft.com/office/drawing/2014/main" id="{4298532A-6309-4CFB-816D-A1D013C9D5D0}"/>
              </a:ext>
            </a:extLst>
          </p:cNvPr>
          <p:cNvSpPr txBox="1"/>
          <p:nvPr/>
        </p:nvSpPr>
        <p:spPr>
          <a:xfrm>
            <a:off x="9966782" y="211942"/>
            <a:ext cx="1866339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47474"/>
              </a:buClr>
              <a:buSzPts val="1000"/>
              <a:buFont typeface="Arial"/>
              <a:buNone/>
            </a:pPr>
            <a:r>
              <a:rPr lang="en-US" altLang="ko-KR" sz="1000" b="1" i="0" u="none" strike="noStrike" cap="none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JB</a:t>
            </a:r>
            <a:r>
              <a:rPr lang="ko-KR" altLang="en-US" sz="1000" b="1" i="0" u="none" strike="noStrike" cap="none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금융그룹 </a:t>
            </a:r>
            <a:r>
              <a:rPr lang="en-US" altLang="ko-KR" sz="1000" b="1" i="0" u="none" strike="noStrike" cap="none" dirty="0" err="1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Fin:AI</a:t>
            </a:r>
            <a:r>
              <a:rPr lang="en-US" altLang="ko-KR" sz="1000" b="1" i="0" u="none" strike="noStrike" cap="none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 Challenge</a:t>
            </a:r>
            <a:endParaRPr dirty="0">
              <a:solidFill>
                <a:srgbClr val="AEAEA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1" name="Google Shape;92;p1">
            <a:extLst>
              <a:ext uri="{FF2B5EF4-FFF2-40B4-BE49-F238E27FC236}">
                <a16:creationId xmlns:a16="http://schemas.microsoft.com/office/drawing/2014/main" id="{4A83B29B-6384-C7B9-B0DB-6ACE69119229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795670" y="6464707"/>
            <a:ext cx="1007955" cy="3534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E7A87DCD-64A0-C1AB-3174-F4C46EFFC1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160" y="6542046"/>
            <a:ext cx="1125182" cy="189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77505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BD2E15-49DB-DBA2-9F76-5D086ABD61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89093888-EE73-841E-FF7E-3153D90098AB}"/>
              </a:ext>
            </a:extLst>
          </p:cNvPr>
          <p:cNvSpPr/>
          <p:nvPr/>
        </p:nvSpPr>
        <p:spPr bwMode="auto">
          <a:xfrm>
            <a:off x="564623" y="1012726"/>
            <a:ext cx="11135764" cy="4896457"/>
          </a:xfrm>
          <a:prstGeom prst="rect">
            <a:avLst/>
          </a:prstGeom>
          <a:noFill/>
          <a:ln w="3175" cap="flat" cmpd="sng" algn="ctr">
            <a:solidFill>
              <a:srgbClr val="FFFFFF">
                <a:lumMod val="75000"/>
              </a:srgbClr>
            </a:solidFill>
            <a:prstDash val="solid"/>
            <a:headEnd type="none" w="med" len="med"/>
            <a:tailEnd type="none" w="med" len="med"/>
          </a:ln>
          <a:effectLst/>
        </p:spPr>
        <p:txBody>
          <a:bodyPr rtlCol="0" anchor="t"/>
          <a:lstStyle>
            <a:defPPr>
              <a:defRPr lang="ko-KR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latinLnBrk="0">
              <a:lnSpc>
                <a:spcPct val="114000"/>
              </a:lnSpc>
              <a:spcAft>
                <a:spcPts val="400"/>
              </a:spcAft>
              <a:buFont typeface="Arial" panose="020B0604020202020204" pitchFamily="34" charset="0"/>
              <a:buChar char="•"/>
              <a:defRPr/>
            </a:pPr>
            <a:endParaRPr lang="en-US" altLang="ko-KR" sz="110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65450A-C406-F66D-7246-8B3CE4B5F9FE}"/>
              </a:ext>
            </a:extLst>
          </p:cNvPr>
          <p:cNvSpPr txBox="1"/>
          <p:nvPr/>
        </p:nvSpPr>
        <p:spPr>
          <a:xfrm>
            <a:off x="939332" y="1189703"/>
            <a:ext cx="39276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+mj-ea"/>
                <a:ea typeface="+mj-ea"/>
              </a:rPr>
              <a:t>6. </a:t>
            </a:r>
            <a:r>
              <a:rPr lang="ko-KR" altLang="en-US" dirty="0">
                <a:latin typeface="+mj-ea"/>
                <a:ea typeface="+mj-ea"/>
              </a:rPr>
              <a:t>사용자 시나리오</a:t>
            </a:r>
            <a:r>
              <a:rPr lang="en-US" altLang="ko-KR" dirty="0">
                <a:latin typeface="+mj-ea"/>
                <a:ea typeface="+mj-ea"/>
              </a:rPr>
              <a:t>/</a:t>
            </a:r>
            <a:r>
              <a:rPr lang="ko-KR" altLang="en-US" dirty="0" err="1">
                <a:latin typeface="+mj-ea"/>
                <a:ea typeface="+mj-ea"/>
              </a:rPr>
              <a:t>유즈케이스</a:t>
            </a:r>
            <a:r>
              <a:rPr lang="ko-KR" altLang="en-US" dirty="0">
                <a:latin typeface="+mj-ea"/>
                <a:ea typeface="+mj-ea"/>
              </a:rPr>
              <a:t> </a:t>
            </a:r>
            <a:r>
              <a:rPr lang="en-US" altLang="ko-KR" dirty="0">
                <a:latin typeface="+mj-ea"/>
                <a:ea typeface="+mj-ea"/>
              </a:rPr>
              <a:t>(User Scenario)</a:t>
            </a:r>
            <a:endParaRPr lang="ko-KR" altLang="en-US" dirty="0">
              <a:latin typeface="+mj-ea"/>
              <a:ea typeface="+mj-ea"/>
            </a:endParaRPr>
          </a:p>
        </p:txBody>
      </p:sp>
      <p:cxnSp>
        <p:nvCxnSpPr>
          <p:cNvPr id="10" name="직선 연결선 3">
            <a:extLst>
              <a:ext uri="{FF2B5EF4-FFF2-40B4-BE49-F238E27FC236}">
                <a16:creationId xmlns:a16="http://schemas.microsoft.com/office/drawing/2014/main" id="{A66DB5E4-99DB-B891-A402-F82B9BBE8824}"/>
              </a:ext>
            </a:extLst>
          </p:cNvPr>
          <p:cNvCxnSpPr/>
          <p:nvPr/>
        </p:nvCxnSpPr>
        <p:spPr>
          <a:xfrm>
            <a:off x="968477" y="1559035"/>
            <a:ext cx="10255045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Google Shape;102;p2">
            <a:extLst>
              <a:ext uri="{FF2B5EF4-FFF2-40B4-BE49-F238E27FC236}">
                <a16:creationId xmlns:a16="http://schemas.microsoft.com/office/drawing/2014/main" id="{BF138AD5-46CB-5ED6-B503-1D82E8C60406}"/>
              </a:ext>
            </a:extLst>
          </p:cNvPr>
          <p:cNvSpPr txBox="1"/>
          <p:nvPr/>
        </p:nvSpPr>
        <p:spPr>
          <a:xfrm>
            <a:off x="606000" y="242625"/>
            <a:ext cx="5432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예선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산출물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– 6. </a:t>
            </a: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사용자 시나리오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/</a:t>
            </a:r>
            <a:r>
              <a:rPr lang="ko-KR" altLang="en-US" sz="1300" b="1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유즈케이스</a:t>
            </a: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(User Scenario)</a:t>
            </a:r>
            <a:endParaRPr sz="13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FEDF22-ED3F-743F-2090-BF83570103E1}"/>
              </a:ext>
            </a:extLst>
          </p:cNvPr>
          <p:cNvSpPr txBox="1"/>
          <p:nvPr/>
        </p:nvSpPr>
        <p:spPr>
          <a:xfrm>
            <a:off x="2664541" y="1957156"/>
            <a:ext cx="7541342" cy="95410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sz="1200"/>
              <a:t>• 주 사용자: 준법관리자 / 준법지원 인력 — 1차 검토 리포트를 받아 최종 승인·반려 결정</a:t>
            </a:r>
          </a:p>
          <a:p>
            <a:r>
              <a:rPr sz="1200"/>
              <a:t>• 부 사용자: 마케팅 콘텐츠 기획자 — 배포 전 셀프 사전점검</a:t>
            </a:r>
          </a:p>
          <a:p>
            <a:r>
              <a:rPr sz="1200"/>
              <a:t>• 흐름 ①: 마케팅 기획서 파일 업로드(HWP/HWPX/PDF)</a:t>
            </a:r>
          </a:p>
          <a:p>
            <a:r>
              <a:rPr sz="1200"/>
              <a:t>• 흐름 ②: Agent가 문서를 파싱·구조화하고 광고 요소를 추출</a:t>
            </a:r>
          </a:p>
          <a:p>
            <a:r>
              <a:rPr sz="1200"/>
              <a:t>• 흐름 ③: 규제 KB RAG 검색 → 규칙 필터 + sLLM 맥락 판단으로 항목별 등급화</a:t>
            </a:r>
          </a:p>
          <a:p>
            <a:r>
              <a:rPr sz="1200"/>
              <a:t>• 흐름 ④: 항목별 [원문 / 등급 / 근거 조항 / 수정안] + 종합 등급 리포트 생성</a:t>
            </a:r>
          </a:p>
          <a:p>
            <a:r>
              <a:rPr sz="1200"/>
              <a:t>• 흐름 ⑤: 준법관리자가 리포트를 검토하고 승인/반려 결정 — 모든 리포트에 ‘보조 도구이며 최종 판단은 준법관리자’ 고지 부착</a:t>
            </a:r>
          </a:p>
        </p:txBody>
      </p:sp>
      <p:cxnSp>
        <p:nvCxnSpPr>
          <p:cNvPr id="2" name="Google Shape;105;p2">
            <a:extLst>
              <a:ext uri="{FF2B5EF4-FFF2-40B4-BE49-F238E27FC236}">
                <a16:creationId xmlns:a16="http://schemas.microsoft.com/office/drawing/2014/main" id="{4F08504B-62BA-7251-2E25-26E6287BEF1D}"/>
              </a:ext>
            </a:extLst>
          </p:cNvPr>
          <p:cNvCxnSpPr/>
          <p:nvPr/>
        </p:nvCxnSpPr>
        <p:spPr>
          <a:xfrm>
            <a:off x="388374" y="6415548"/>
            <a:ext cx="11415300" cy="0"/>
          </a:xfrm>
          <a:prstGeom prst="straightConnector1">
            <a:avLst/>
          </a:prstGeom>
          <a:noFill/>
          <a:ln w="19050" cap="flat" cmpd="sng">
            <a:solidFill>
              <a:srgbClr val="2178BA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" name="Google Shape;99;p2">
            <a:extLst>
              <a:ext uri="{FF2B5EF4-FFF2-40B4-BE49-F238E27FC236}">
                <a16:creationId xmlns:a16="http://schemas.microsoft.com/office/drawing/2014/main" id="{63EA3688-0705-1D30-C6B6-8371FE7270DF}"/>
              </a:ext>
            </a:extLst>
          </p:cNvPr>
          <p:cNvCxnSpPr/>
          <p:nvPr/>
        </p:nvCxnSpPr>
        <p:spPr>
          <a:xfrm>
            <a:off x="388374" y="599767"/>
            <a:ext cx="11415252" cy="0"/>
          </a:xfrm>
          <a:prstGeom prst="straightConnector1">
            <a:avLst/>
          </a:prstGeom>
          <a:noFill/>
          <a:ln w="19050" cap="flat" cmpd="sng">
            <a:solidFill>
              <a:srgbClr val="204B9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8" name="Google Shape;101;p2">
            <a:extLst>
              <a:ext uri="{FF2B5EF4-FFF2-40B4-BE49-F238E27FC236}">
                <a16:creationId xmlns:a16="http://schemas.microsoft.com/office/drawing/2014/main" id="{3A377AC2-CD2F-4E5E-BFEF-BC152D4D8A94}"/>
              </a:ext>
            </a:extLst>
          </p:cNvPr>
          <p:cNvSpPr/>
          <p:nvPr/>
        </p:nvSpPr>
        <p:spPr>
          <a:xfrm>
            <a:off x="462750" y="371175"/>
            <a:ext cx="125700" cy="127800"/>
          </a:xfrm>
          <a:prstGeom prst="rect">
            <a:avLst/>
          </a:prstGeom>
          <a:solidFill>
            <a:srgbClr val="2691C5"/>
          </a:solidFill>
          <a:ln>
            <a:solidFill>
              <a:srgbClr val="FFFFFF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3C7CD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" name="Google Shape;100;p2">
            <a:extLst>
              <a:ext uri="{FF2B5EF4-FFF2-40B4-BE49-F238E27FC236}">
                <a16:creationId xmlns:a16="http://schemas.microsoft.com/office/drawing/2014/main" id="{DE75EC79-02E8-59C5-C459-D64C66C7424C}"/>
              </a:ext>
            </a:extLst>
          </p:cNvPr>
          <p:cNvSpPr txBox="1"/>
          <p:nvPr/>
        </p:nvSpPr>
        <p:spPr>
          <a:xfrm>
            <a:off x="9966782" y="211942"/>
            <a:ext cx="1866339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47474"/>
              </a:buClr>
              <a:buSzPts val="1000"/>
              <a:buFont typeface="Arial"/>
              <a:buNone/>
            </a:pPr>
            <a:r>
              <a:rPr lang="en-US" altLang="ko-KR" sz="1000" b="1" i="0" u="none" strike="noStrike" cap="none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JB</a:t>
            </a:r>
            <a:r>
              <a:rPr lang="ko-KR" altLang="en-US" sz="1000" b="1" i="0" u="none" strike="noStrike" cap="none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금융그룹 </a:t>
            </a:r>
            <a:r>
              <a:rPr lang="en-US" altLang="ko-KR" sz="1000" b="1" i="0" u="none" strike="noStrike" cap="none" dirty="0" err="1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Fin:AI</a:t>
            </a:r>
            <a:r>
              <a:rPr lang="en-US" altLang="ko-KR" sz="1000" b="1" i="0" u="none" strike="noStrike" cap="none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 Challenge</a:t>
            </a:r>
            <a:endParaRPr dirty="0">
              <a:solidFill>
                <a:srgbClr val="AEAEA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1" name="Google Shape;92;p1">
            <a:extLst>
              <a:ext uri="{FF2B5EF4-FFF2-40B4-BE49-F238E27FC236}">
                <a16:creationId xmlns:a16="http://schemas.microsoft.com/office/drawing/2014/main" id="{ADDEC6D0-1DC9-520B-6922-5931B049566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795670" y="6464707"/>
            <a:ext cx="1007955" cy="3534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79C5A4A6-1242-C668-4A8A-4203C1792A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160" y="6542046"/>
            <a:ext cx="1125182" cy="189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23894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85D1B5-3FFF-C59F-69EE-822AEA56D1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9D838C0B-5529-7B58-FED5-6071DAD928C6}"/>
              </a:ext>
            </a:extLst>
          </p:cNvPr>
          <p:cNvSpPr/>
          <p:nvPr/>
        </p:nvSpPr>
        <p:spPr bwMode="auto">
          <a:xfrm>
            <a:off x="564623" y="1012726"/>
            <a:ext cx="11135764" cy="4896457"/>
          </a:xfrm>
          <a:prstGeom prst="rect">
            <a:avLst/>
          </a:prstGeom>
          <a:noFill/>
          <a:ln w="3175" cap="flat" cmpd="sng" algn="ctr">
            <a:solidFill>
              <a:srgbClr val="FFFFFF">
                <a:lumMod val="75000"/>
              </a:srgbClr>
            </a:solidFill>
            <a:prstDash val="solid"/>
            <a:headEnd type="none" w="med" len="med"/>
            <a:tailEnd type="none" w="med" len="med"/>
          </a:ln>
          <a:effectLst/>
        </p:spPr>
        <p:txBody>
          <a:bodyPr rtlCol="0" anchor="t"/>
          <a:lstStyle>
            <a:defPPr>
              <a:defRPr lang="ko-KR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kumimoji="1" sz="1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latinLnBrk="0">
              <a:lnSpc>
                <a:spcPct val="114000"/>
              </a:lnSpc>
              <a:spcAft>
                <a:spcPts val="400"/>
              </a:spcAft>
              <a:buFont typeface="Arial" panose="020B0604020202020204" pitchFamily="34" charset="0"/>
              <a:buChar char="•"/>
              <a:defRPr/>
            </a:pPr>
            <a:endParaRPr lang="en-US" altLang="ko-KR" sz="110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CAB4B5-2738-A943-FE29-A76A05493367}"/>
              </a:ext>
            </a:extLst>
          </p:cNvPr>
          <p:cNvSpPr txBox="1"/>
          <p:nvPr/>
        </p:nvSpPr>
        <p:spPr>
          <a:xfrm>
            <a:off x="939332" y="1189703"/>
            <a:ext cx="39276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+mj-ea"/>
                <a:ea typeface="+mj-ea"/>
              </a:rPr>
              <a:t>7. </a:t>
            </a:r>
            <a:r>
              <a:rPr lang="ko-KR" altLang="en-US" dirty="0">
                <a:latin typeface="+mj-ea"/>
                <a:ea typeface="+mj-ea"/>
              </a:rPr>
              <a:t>기대 효과 및 향후 확장성 </a:t>
            </a:r>
            <a:r>
              <a:rPr lang="en-US" altLang="ko-KR" dirty="0">
                <a:latin typeface="+mj-ea"/>
                <a:ea typeface="+mj-ea"/>
              </a:rPr>
              <a:t>(Expected Impact)</a:t>
            </a:r>
            <a:endParaRPr lang="ko-KR" altLang="en-US" dirty="0">
              <a:latin typeface="+mj-ea"/>
              <a:ea typeface="+mj-ea"/>
            </a:endParaRPr>
          </a:p>
        </p:txBody>
      </p:sp>
      <p:cxnSp>
        <p:nvCxnSpPr>
          <p:cNvPr id="10" name="직선 연결선 3">
            <a:extLst>
              <a:ext uri="{FF2B5EF4-FFF2-40B4-BE49-F238E27FC236}">
                <a16:creationId xmlns:a16="http://schemas.microsoft.com/office/drawing/2014/main" id="{E9953E83-E407-B61E-5E64-17F3EA50FCB9}"/>
              </a:ext>
            </a:extLst>
          </p:cNvPr>
          <p:cNvCxnSpPr/>
          <p:nvPr/>
        </p:nvCxnSpPr>
        <p:spPr>
          <a:xfrm>
            <a:off x="968477" y="1559035"/>
            <a:ext cx="10255045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Google Shape;102;p2">
            <a:extLst>
              <a:ext uri="{FF2B5EF4-FFF2-40B4-BE49-F238E27FC236}">
                <a16:creationId xmlns:a16="http://schemas.microsoft.com/office/drawing/2014/main" id="{092B5F58-4C29-C5F8-0720-9DFB3E434D6A}"/>
              </a:ext>
            </a:extLst>
          </p:cNvPr>
          <p:cNvSpPr txBox="1"/>
          <p:nvPr/>
        </p:nvSpPr>
        <p:spPr>
          <a:xfrm>
            <a:off x="606000" y="242625"/>
            <a:ext cx="5432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예선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산출물 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– 7. </a:t>
            </a:r>
            <a:r>
              <a:rPr lang="ko-KR" altLang="en-US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기대 효과 및 향후 확장성</a:t>
            </a:r>
            <a:r>
              <a:rPr lang="en-US" altLang="ko-KR" sz="1300" b="1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(Expected Impact)</a:t>
            </a:r>
            <a:endParaRPr sz="1300" b="1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CB945E-9ECE-D3DA-6C68-E94316447AE9}"/>
              </a:ext>
            </a:extLst>
          </p:cNvPr>
          <p:cNvSpPr txBox="1"/>
          <p:nvPr/>
        </p:nvSpPr>
        <p:spPr>
          <a:xfrm>
            <a:off x="2664541" y="1957156"/>
            <a:ext cx="7541342" cy="116955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sz="1400"/>
              <a:t>• 정량 효과(목표): 심의 리드타임 단축, 위반 적출률·근거 추적률 향상, 동일 광고 재심의 시 판단 일관성 확보</a:t>
            </a:r>
          </a:p>
          <a:p>
            <a:r>
              <a:rPr sz="1400"/>
              <a:t>• 정성 효과: 준법관리자가 단순 위반 적출이 아닌 ‘맥락 판단·승인’ 고부가 업무에 집중, 휴먼 에러 감소</a:t>
            </a:r>
          </a:p>
          <a:p>
            <a:r>
              <a:rPr sz="1400"/>
              <a:t>• 차별점 ①(온프레미스): 금융 내부 문서를 외부 API로 보내지 않는 완전 망 내 구성 — 상용 API LLM 대비 보안 우위</a:t>
            </a:r>
          </a:p>
          <a:p>
            <a:r>
              <a:rPr sz="1400"/>
              <a:t>• 차별점 ②(근거 기반): RAG 검색 청크 메타데이터에서만 조항을 인용 → 근거 할루시네이션 차단</a:t>
            </a:r>
          </a:p>
          <a:p>
            <a:r>
              <a:rPr sz="1400"/>
              <a:t>• 확장 가능성: F-09 인제스천 파이프라인으로 새 규제·가이드라인을 즉시 KB에 반영 → 규제 변경 대응 비용 최소화</a:t>
            </a:r>
          </a:p>
          <a:p>
            <a:r>
              <a:rPr sz="1400"/>
              <a:t>• 고도화: F-10 다국어 콘텐츠 검토(원문↔외국어판 고지사항 동등성), JB 내부 심의 기준 KB 추가, 본선 단계의 정량 평가셋 기반 신뢰성 검증</a:t>
            </a:r>
          </a:p>
        </p:txBody>
      </p:sp>
      <p:cxnSp>
        <p:nvCxnSpPr>
          <p:cNvPr id="2" name="Google Shape;105;p2">
            <a:extLst>
              <a:ext uri="{FF2B5EF4-FFF2-40B4-BE49-F238E27FC236}">
                <a16:creationId xmlns:a16="http://schemas.microsoft.com/office/drawing/2014/main" id="{72B426FE-2A85-BFED-59A8-9822F9722ABB}"/>
              </a:ext>
            </a:extLst>
          </p:cNvPr>
          <p:cNvCxnSpPr/>
          <p:nvPr/>
        </p:nvCxnSpPr>
        <p:spPr>
          <a:xfrm>
            <a:off x="388374" y="6415548"/>
            <a:ext cx="11415300" cy="0"/>
          </a:xfrm>
          <a:prstGeom prst="straightConnector1">
            <a:avLst/>
          </a:prstGeom>
          <a:noFill/>
          <a:ln w="19050" cap="flat" cmpd="sng">
            <a:solidFill>
              <a:srgbClr val="2178BA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" name="Google Shape;99;p2">
            <a:extLst>
              <a:ext uri="{FF2B5EF4-FFF2-40B4-BE49-F238E27FC236}">
                <a16:creationId xmlns:a16="http://schemas.microsoft.com/office/drawing/2014/main" id="{4BB48182-34C6-3BEE-3AA6-D59D120B8674}"/>
              </a:ext>
            </a:extLst>
          </p:cNvPr>
          <p:cNvCxnSpPr/>
          <p:nvPr/>
        </p:nvCxnSpPr>
        <p:spPr>
          <a:xfrm>
            <a:off x="388374" y="599767"/>
            <a:ext cx="11415252" cy="0"/>
          </a:xfrm>
          <a:prstGeom prst="straightConnector1">
            <a:avLst/>
          </a:prstGeom>
          <a:noFill/>
          <a:ln w="19050" cap="flat" cmpd="sng">
            <a:solidFill>
              <a:srgbClr val="204B9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8" name="Google Shape;101;p2">
            <a:extLst>
              <a:ext uri="{FF2B5EF4-FFF2-40B4-BE49-F238E27FC236}">
                <a16:creationId xmlns:a16="http://schemas.microsoft.com/office/drawing/2014/main" id="{60DD28D2-AA4F-BDB2-A975-8313F18BD5AD}"/>
              </a:ext>
            </a:extLst>
          </p:cNvPr>
          <p:cNvSpPr/>
          <p:nvPr/>
        </p:nvSpPr>
        <p:spPr>
          <a:xfrm>
            <a:off x="462750" y="371175"/>
            <a:ext cx="125700" cy="127800"/>
          </a:xfrm>
          <a:prstGeom prst="rect">
            <a:avLst/>
          </a:prstGeom>
          <a:solidFill>
            <a:srgbClr val="2691C5"/>
          </a:solidFill>
          <a:ln>
            <a:solidFill>
              <a:srgbClr val="FFFFFF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3C7CD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" name="Google Shape;100;p2">
            <a:extLst>
              <a:ext uri="{FF2B5EF4-FFF2-40B4-BE49-F238E27FC236}">
                <a16:creationId xmlns:a16="http://schemas.microsoft.com/office/drawing/2014/main" id="{A38C2A3A-1116-CB84-87A3-7D297146A592}"/>
              </a:ext>
            </a:extLst>
          </p:cNvPr>
          <p:cNvSpPr txBox="1"/>
          <p:nvPr/>
        </p:nvSpPr>
        <p:spPr>
          <a:xfrm>
            <a:off x="9966782" y="211942"/>
            <a:ext cx="1866339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47474"/>
              </a:buClr>
              <a:buSzPts val="1000"/>
              <a:buFont typeface="Arial"/>
              <a:buNone/>
            </a:pPr>
            <a:r>
              <a:rPr lang="en-US" altLang="ko-KR" sz="1000" b="1" i="0" u="none" strike="noStrike" cap="none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JB</a:t>
            </a:r>
            <a:r>
              <a:rPr lang="ko-KR" altLang="en-US" sz="1000" b="1" i="0" u="none" strike="noStrike" cap="none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금융그룹 </a:t>
            </a:r>
            <a:r>
              <a:rPr lang="en-US" altLang="ko-KR" sz="1000" b="1" i="0" u="none" strike="noStrike" cap="none" dirty="0" err="1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Fin:AI</a:t>
            </a:r>
            <a:r>
              <a:rPr lang="en-US" altLang="ko-KR" sz="1000" b="1" i="0" u="none" strike="noStrike" cap="none" dirty="0">
                <a:solidFill>
                  <a:srgbClr val="AEAEAE"/>
                </a:solidFill>
                <a:latin typeface="Malgun Gothic"/>
                <a:ea typeface="Malgun Gothic"/>
                <a:cs typeface="Malgun Gothic"/>
                <a:sym typeface="Malgun Gothic"/>
              </a:rPr>
              <a:t> Challenge</a:t>
            </a:r>
            <a:endParaRPr dirty="0">
              <a:solidFill>
                <a:srgbClr val="AEAEAE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1" name="Google Shape;92;p1">
            <a:extLst>
              <a:ext uri="{FF2B5EF4-FFF2-40B4-BE49-F238E27FC236}">
                <a16:creationId xmlns:a16="http://schemas.microsoft.com/office/drawing/2014/main" id="{1FC3F817-B0A9-AE3C-6E77-6617FE62666B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795670" y="6464707"/>
            <a:ext cx="1007955" cy="3534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54CF8A7C-3BAD-7322-7C02-7E75424A87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160" y="6542046"/>
            <a:ext cx="1125182" cy="189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5967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386</TotalTime>
  <Words>377</Words>
  <Application>Microsoft Office PowerPoint</Application>
  <PresentationFormat>와이드스크린</PresentationFormat>
  <Paragraphs>66</Paragraphs>
  <Slides>8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4" baseType="lpstr">
      <vt:lpstr>Pretendard_KR</vt:lpstr>
      <vt:lpstr>Malgun Gothic</vt:lpstr>
      <vt:lpstr>Malgun Gothic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Dacon io</dc:creator>
  <cp:lastModifiedBy>Dacon io</cp:lastModifiedBy>
  <cp:revision>47</cp:revision>
  <dcterms:created xsi:type="dcterms:W3CDTF">2024-05-21T00:00:56Z</dcterms:created>
  <dcterms:modified xsi:type="dcterms:W3CDTF">2026-05-11T00:07:25Z</dcterms:modified>
</cp:coreProperties>
</file>