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0" b="1">
                <a:solidFill>
                  <a:srgbClr val="FFFFFF"/>
                </a:solidFill>
              </a:defRPr>
            </a:pPr>
            <a:r>
              <a:t>내일은행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>
                <a:solidFill>
                  <a:srgbClr val="FFB300"/>
                </a:solidFill>
              </a:defRPr>
            </a:pPr>
            <a:r>
              <a:t>내일 들어올 확정 현금흐름을 오늘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i="1">
                <a:solidFill>
                  <a:srgbClr val="FFFFFF"/>
                </a:solidFill>
              </a:defRPr>
            </a:pPr>
            <a:r>
              <a:t>"사라진 동네 지점장을, AI로 복원하다"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4864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AABBCC"/>
                </a:solidFill>
              </a:defRPr>
            </a:pPr>
            <a:r>
              <a:t>JB금융그룹 Fin:AI Challenge · 자유주제 (JB금융그룹 연계 AI Agent)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D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문제 정의 | Problem Definition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54864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5486400" cy="73152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34439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D3E50"/>
                </a:solidFill>
              </a:defRPr>
            </a:pPr>
            <a:r>
              <a:t>핵심 문제: 정산 시간차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지역화폐 매출은 이미 발생했지만</a:t>
            </a:r>
          </a:p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가맹점 정산은 월 단위로 묶여</a:t>
            </a:r>
          </a:p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익월 중순에야 입금됩니다.</a:t>
            </a:r>
          </a:p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</a:p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→ 일반 카드(2~3일)보다 정산 공백이 훨씬 길다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097280"/>
            <a:ext cx="54864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1097280"/>
            <a:ext cx="5486400" cy="73152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234439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D3E50"/>
                </a:solidFill>
              </a:defRPr>
            </a:pPr>
            <a:r>
              <a:t>흑자도산형 자금경색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60020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매출(채권)은 있는데 타이밍이 안 맞아</a:t>
            </a:r>
          </a:p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단기 운전자금이 막힌다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468880"/>
            <a:ext cx="54864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2468880"/>
            <a:ext cx="5486400" cy="73152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606040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D3E50"/>
                </a:solidFill>
              </a:defRPr>
            </a:pPr>
            <a:r>
              <a:t>기존 대출의 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97180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담보·신용평가·심사 시간</a:t>
            </a:r>
          </a:p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며칠짜리 유동성에 쓰기엔 무겁다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566160"/>
            <a:ext cx="36576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566160"/>
            <a:ext cx="3657600" cy="73152"/>
          </a:xfrm>
          <a:prstGeom prst="rect">
            <a:avLst/>
          </a:prstGeom>
          <a:solidFill>
            <a:srgbClr val="1E6F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703320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D3E50"/>
                </a:solidFill>
              </a:defRPr>
            </a:pPr>
            <a:r>
              <a:t>대상 사용자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06908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광주·전남 지역화폐(광주상생카드)</a:t>
            </a:r>
          </a:p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가맹 소상공인</a:t>
            </a:r>
          </a:p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</a:p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재료비·인건비·임대료는 먼저 나간다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0" y="3566160"/>
            <a:ext cx="3749039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97680" y="3566160"/>
            <a:ext cx="3749039" cy="73152"/>
          </a:xfrm>
          <a:prstGeom prst="rect">
            <a:avLst/>
          </a:prstGeom>
          <a:solidFill>
            <a:srgbClr val="1E6F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0560" y="3703320"/>
            <a:ext cx="33832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D3E50"/>
                </a:solidFill>
              </a:defRPr>
            </a:pPr>
            <a:r>
              <a:t>JB금융그룹 관점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4069080"/>
            <a:ext cx="3383279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광주은행 = 지역화폐 운영 대행사</a:t>
            </a:r>
          </a:p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소상공인 유동성 지원 = 핵심 고객가치</a:t>
            </a:r>
          </a:p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부실 사전 관리 + 관계금융 복원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0" y="3566160"/>
            <a:ext cx="347472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29600" y="3566160"/>
            <a:ext cx="3474720" cy="73152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0" y="370332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D3E50"/>
                </a:solidFill>
              </a:defRPr>
            </a:pPr>
            <a:r>
              <a:t>핀테크의 사각지대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4069080"/>
            <a:ext cx="3108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카드 선정산은 있어도</a:t>
            </a:r>
          </a:p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지역화폐·정책자금 정산은</a:t>
            </a:r>
          </a:p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다루지 않는다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54406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E6FCF"/>
                </a:solidFill>
              </a:defRPr>
            </a:pPr>
            <a:r>
              <a:t>→ 광주은행이 정산 데이터를 직접 보유 = 즉시 실증 가능한 과제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D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제안 솔루션 | AI 지점장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D3E50"/>
                </a:solidFill>
              </a:defRPr>
            </a:pPr>
            <a:r>
              <a:t>내일은행 = 은행원 업무 화면에 붙는 'AI 지점장' 에이전트</a:t>
            </a:r>
          </a:p>
          <a:p>
            <a:pPr>
              <a:defRPr sz="1600">
                <a:solidFill>
                  <a:srgbClr val="666666"/>
                </a:solidFill>
              </a:defRPr>
            </a:pPr>
            <a:r>
              <a:t>고객 앱이 아니라 은행을 위한 도구. 질문에 답하는 AI가 아니라, 먼저 찾아와 행동하는 AI.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011680"/>
            <a:ext cx="36576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2011680"/>
            <a:ext cx="3657600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D3E50"/>
                </a:solidFill>
              </a:defRPr>
            </a:pPr>
            <a:r>
              <a:t>핵심 차별점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14600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신용평가/대출이 아니라</a:t>
            </a:r>
          </a:p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'확정 채권의 시간차 브릿지'</a:t>
            </a:r>
          </a:p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</a:p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→ 회수 위험↓ · 규제 부담↓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2011680"/>
            <a:ext cx="3749039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97680" y="2011680"/>
            <a:ext cx="3749039" cy="73152"/>
          </a:xfrm>
          <a:prstGeom prst="rect">
            <a:avLst/>
          </a:prstGeom>
          <a:solidFill>
            <a:srgbClr val="1E6F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2148840"/>
            <a:ext cx="33832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D3E50"/>
                </a:solidFill>
              </a:defRPr>
            </a:pPr>
            <a:r>
              <a:t>2층 구조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514600"/>
            <a:ext cx="3383279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쐐기: 광주은행 운영 지역화폐</a:t>
            </a:r>
          </a:p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(광주상생카드) 정산 - MVP</a:t>
            </a:r>
          </a:p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</a:p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플랫폼: 카드·배달·지원금 확장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2011680"/>
            <a:ext cx="34747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0" y="2011680"/>
            <a:ext cx="3474720" cy="73152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214884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D3E50"/>
                </a:solidFill>
              </a:defRPr>
            </a:pPr>
            <a:r>
              <a:t>능동 작동 (Proactive)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51460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매일 밤 관할 소상공인을</a:t>
            </a:r>
          </a:p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스스로 스캔해 위험·기회 발견</a:t>
            </a:r>
          </a:p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</a:p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은행원에게 먼저 보고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023360"/>
            <a:ext cx="11247120" cy="731520"/>
          </a:xfrm>
          <a:prstGeom prst="roundRect">
            <a:avLst/>
          </a:prstGeom>
          <a:solidFill>
            <a:srgbClr val="E8F4FD"/>
          </a:solidFill>
          <a:ln>
            <a:solidFill>
              <a:srgbClr val="1E6F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1605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D2B52"/>
                </a:solidFill>
              </a:defRPr>
            </a:pPr>
            <a:r>
              <a:t>원칙: AI는 추천·설명, 최종 승인은 규칙엔진/은행원 (고영향 AI 인간 최종판단)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84632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D3E50"/>
                </a:solidFill>
              </a:defRPr>
            </a:pPr>
            <a:r>
              <a:t>에이전트 루프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212080"/>
            <a:ext cx="3657600" cy="1005840"/>
          </a:xfrm>
          <a:prstGeom prst="roundRect">
            <a:avLst/>
          </a:prstGeom>
          <a:solidFill>
            <a:srgbClr val="E3F2FD"/>
          </a:solidFill>
          <a:ln>
            <a:solidFill>
              <a:srgbClr val="1E6F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530352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E6FCF"/>
                </a:solidFill>
              </a:defRPr>
            </a:pPr>
            <a:r>
              <a:t>판단(Reasoning)</a:t>
            </a:r>
          </a:p>
          <a:p>
            <a:pPr>
              <a:defRPr sz="1100">
                <a:solidFill>
                  <a:srgbClr val="2D3E50"/>
                </a:solidFill>
              </a:defRPr>
            </a:pPr>
            <a:r>
              <a:t>정산예정 + 상권정보 해석</a:t>
            </a:r>
            <a:br/>
            <a:r>
              <a:t>→ 회수확률 · 추천한도 · 위험플래그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5212080"/>
            <a:ext cx="3749039" cy="1005840"/>
          </a:xfrm>
          <a:prstGeom prst="roundRect">
            <a:avLst/>
          </a:prstGeom>
          <a:solidFill>
            <a:srgbClr val="E8F5E9"/>
          </a:solidFill>
          <a:ln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20" y="530352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7AE60"/>
                </a:solidFill>
              </a:defRPr>
            </a:pPr>
            <a:r>
              <a:t>행동(Action)</a:t>
            </a:r>
          </a:p>
          <a:p>
            <a:pPr>
              <a:defRPr sz="1100">
                <a:solidFill>
                  <a:srgbClr val="2D3E50"/>
                </a:solidFill>
              </a:defRPr>
            </a:pPr>
            <a:r>
              <a:t>선지급 추천 · 정책매칭 · 위험경보</a:t>
            </a:r>
            <a:br/>
            <a:r>
              <a:t>규칙엔진 자동집행/은행원 에스컬레이션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0" y="5212080"/>
            <a:ext cx="3474720" cy="1005840"/>
          </a:xfrm>
          <a:prstGeom prst="roundRect">
            <a:avLst/>
          </a:prstGeom>
          <a:solidFill>
            <a:srgbClr val="FDF2E3"/>
          </a:solidFill>
          <a:ln>
            <a:solidFill>
              <a:srgbClr val="FFB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21040" y="530352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B300"/>
                </a:solidFill>
              </a:defRPr>
            </a:pPr>
            <a:r>
              <a:t>검증/개선(Verify)</a:t>
            </a:r>
          </a:p>
          <a:p>
            <a:pPr>
              <a:defRPr sz="1100">
                <a:solidFill>
                  <a:srgbClr val="2D3E50"/>
                </a:solidFill>
              </a:defRPr>
            </a:pPr>
            <a:r>
              <a:t>정산일 회수 결과 모니터링</a:t>
            </a:r>
            <a:br/>
            <a:r>
              <a:t>→ 모델·임계값 재보정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D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시스템 구성도 | 멀티 에이전트 아키텍처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11247120" cy="731520"/>
          </a:xfrm>
          <a:prstGeom prst="roundRect">
            <a:avLst/>
          </a:prstGeom>
          <a:solidFill>
            <a:srgbClr val="0D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오케스트레이터 (워크플로우 제어 · 도구 호출 · 결과 종합)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011680"/>
            <a:ext cx="2651760" cy="1371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E6F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14884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E6FCF"/>
                </a:solidFill>
              </a:defRPr>
            </a:pPr>
            <a:r>
              <a:t>회수확률</a:t>
            </a:r>
            <a:br/>
            <a:r>
              <a:t>에이전트</a:t>
            </a:r>
          </a:p>
          <a:p>
            <a:pPr algn="ctr">
              <a:defRPr sz="1100">
                <a:solidFill>
                  <a:srgbClr val="2D3E50"/>
                </a:solidFill>
              </a:defRPr>
            </a:pPr>
            <a:r>
              <a:t>GBM + SHAP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2011680"/>
            <a:ext cx="2651760" cy="1371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214884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74C3C"/>
                </a:solidFill>
              </a:defRPr>
            </a:pPr>
            <a:r>
              <a:t>위험</a:t>
            </a:r>
            <a:br/>
            <a:r>
              <a:t>에이전트</a:t>
            </a:r>
          </a:p>
          <a:p>
            <a:pPr algn="ctr">
              <a:defRPr sz="1100">
                <a:solidFill>
                  <a:srgbClr val="2D3E50"/>
                </a:solidFill>
              </a:defRPr>
            </a:pPr>
            <a:r>
              <a:t>이상탐지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2011680"/>
            <a:ext cx="2651760" cy="1371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214884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7AE60"/>
                </a:solidFill>
              </a:defRPr>
            </a:pPr>
            <a:r>
              <a:t>정책</a:t>
            </a:r>
            <a:br/>
            <a:r>
              <a:t>에이전트</a:t>
            </a:r>
          </a:p>
          <a:p>
            <a:pPr algn="ctr">
              <a:defRPr sz="1100">
                <a:solidFill>
                  <a:srgbClr val="2D3E50"/>
                </a:solidFill>
              </a:defRPr>
            </a:pPr>
            <a:r>
              <a:t>RAG + 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0" y="2011680"/>
            <a:ext cx="2651760" cy="1371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B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52560" y="214884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B300"/>
                </a:solidFill>
              </a:defRPr>
            </a:pPr>
            <a:r>
              <a:t>수익성</a:t>
            </a:r>
            <a:br/>
            <a:r>
              <a:t>에이전트</a:t>
            </a:r>
          </a:p>
          <a:p>
            <a:pPr algn="ctr">
              <a:defRPr sz="1100">
                <a:solidFill>
                  <a:srgbClr val="2D3E50"/>
                </a:solidFill>
              </a:defRPr>
            </a:pPr>
            <a:r>
              <a:t>한도·금리 최적화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352044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2D3E50"/>
                </a:solidFill>
              </a:defRPr>
            </a:pPr>
            <a:r>
              <a:t>▼ 구조화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840480"/>
            <a:ext cx="5486400" cy="1371600"/>
          </a:xfrm>
          <a:prstGeom prst="roundRect">
            <a:avLst/>
          </a:prstGeom>
          <a:solidFill>
            <a:srgbClr val="E8F4FD"/>
          </a:solidFill>
          <a:ln>
            <a:solidFill>
              <a:srgbClr val="1E6F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977639"/>
            <a:ext cx="5303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6FCF"/>
                </a:solidFill>
              </a:defRPr>
            </a:pPr>
            <a:r>
              <a:t>규칙엔진 (결정론적 최종)</a:t>
            </a:r>
          </a:p>
          <a:p>
            <a:pPr>
              <a:defRPr sz="1200">
                <a:solidFill>
                  <a:srgbClr val="2D3E50"/>
                </a:solidFill>
              </a:defRPr>
            </a:pPr>
            <a:r>
              <a:t>충돌 조정 · 한도·금리캡 · 정책 검증 · 집행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840480"/>
            <a:ext cx="5486400" cy="1371600"/>
          </a:xfrm>
          <a:prstGeom prst="roundRect">
            <a:avLst/>
          </a:prstGeom>
          <a:solidFill>
            <a:srgbClr val="FDF2E3"/>
          </a:solidFill>
          <a:ln>
            <a:solidFill>
              <a:srgbClr val="FFB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3977639"/>
            <a:ext cx="5303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B300"/>
                </a:solidFill>
              </a:defRPr>
            </a:pPr>
            <a:r>
              <a:t>LLM = 설명 전용 (판단 X)</a:t>
            </a:r>
          </a:p>
          <a:p>
            <a:pPr>
              <a:defRPr sz="1200">
                <a:solidFill>
                  <a:srgbClr val="2D3E50"/>
                </a:solidFill>
              </a:defRPr>
            </a:pPr>
            <a:r>
              <a:t>SHAP 기반 자연어 설명 생성 (환각 차단)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39496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D3E50"/>
                </a:solidFill>
              </a:defRPr>
            </a:pPr>
            <a:r>
              <a:t>• 멀티 전문 에이전트: 회수확률·위험·정책·수익성 전문 판단들의 협업·조정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80644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D3E50"/>
                </a:solidFill>
              </a:defRPr>
            </a:pPr>
            <a:r>
              <a:t>• 결정론/LLM 분리: 판단은 결정론 모델·규칙엔진, LLM은 설명·검색만 → 환각 차단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2179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D3E50"/>
                </a:solidFill>
              </a:defRPr>
            </a:pPr>
            <a:r>
              <a:t>• 규제 가드: 선지급 재원·금리·haircut 전부 결정론 규칙으로 강제 (감사 가능)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D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핵심 기능 | AI 지점장의 행동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>
                <a:solidFill>
                  <a:srgbClr val="666666"/>
                </a:solidFill>
              </a:defRPr>
            </a:pPr>
            <a:r>
              <a:t>옛 동네 지점장처럼 — 지켜주고 · 챙겨주고 · 당겨준다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63040"/>
            <a:ext cx="365760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3657600" cy="73152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D3E50"/>
                </a:solidFill>
              </a:defRPr>
            </a:pPr>
            <a:r>
              <a:t>[지켜준다] 조기 위험경보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6596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정산·매출 패턴의 개인별 이상을</a:t>
            </a:r>
          </a:p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연체 전(골든타임)에 감지</a:t>
            </a:r>
          </a:p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→ 연착륙 연계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463040"/>
            <a:ext cx="365760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97680" y="1463040"/>
            <a:ext cx="3657600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600200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D3E50"/>
                </a:solidFill>
              </a:defRPr>
            </a:pPr>
            <a:r>
              <a:t>[챙겨준다] 정책자금 매칭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196596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받을 수 있는 정책을 RAG로 찾아</a:t>
            </a:r>
          </a:p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신청 동선까지 안내</a:t>
            </a:r>
          </a:p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</a:p>
        </p:txBody>
      </p:sp>
      <p:sp>
        <p:nvSpPr>
          <p:cNvPr id="13" name="Rounded Rectangle 12"/>
          <p:cNvSpPr/>
          <p:nvPr/>
        </p:nvSpPr>
        <p:spPr>
          <a:xfrm>
            <a:off x="8138160" y="1463040"/>
            <a:ext cx="365760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1463040"/>
            <a:ext cx="3657600" cy="73152"/>
          </a:xfrm>
          <a:prstGeom prst="rect">
            <a:avLst/>
          </a:prstGeom>
          <a:solidFill>
            <a:srgbClr val="1E6F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1600200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D3E50"/>
                </a:solidFill>
              </a:defRPr>
            </a:pPr>
            <a:r>
              <a:t>[당겨준다] 선지급 (핵심)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196596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확정된 지역화폐 정산을 정산일 전 선지급</a:t>
            </a:r>
          </a:p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선지급률 = 정산예정액 × (1-환불률-버퍼)</a:t>
            </a:r>
          </a:p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예: 300만 → 276만 haircut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657600"/>
            <a:ext cx="566928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657600"/>
            <a:ext cx="5669280" cy="73152"/>
          </a:xfrm>
          <a:prstGeom prst="rect">
            <a:avLst/>
          </a:prstGeom>
          <a:solidFill>
            <a:srgbClr val="1E6F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79476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D3E50"/>
                </a:solidFill>
              </a:defRPr>
            </a:pPr>
            <a:r>
              <a:t>은행원 코파일럿 화면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160520"/>
            <a:ext cx="5303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• 3단계 신호 (자동승인/검토/미달) + SHAP 근거</a:t>
            </a:r>
          </a:p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• 한도 슬라이더 ↔ 회수확률 실시간 연동</a:t>
            </a:r>
          </a:p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• 거절 시 낙인 없는 대안 제시</a:t>
            </a:r>
          </a:p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→ AI가 발견, 사람이 결정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3657600"/>
            <a:ext cx="539496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60" y="3657600"/>
            <a:ext cx="5394960" cy="73152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79476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D3E50"/>
                </a:solidFill>
              </a:defRPr>
            </a:pPr>
            <a:r>
              <a:t>거절-연착륙 (독립 기능)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16052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거절(약 5%)은 끝이 아니라 트리거</a:t>
            </a:r>
          </a:p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① 정책자금 ② 상환 유예 ③ 재신청 안내</a:t>
            </a:r>
          </a:p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</a:p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거절을 관계로 바꾸는 화면 = 동네 지점장 차별점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D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기능 명세 | Feature Specification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97280"/>
            <a:ext cx="11612880" cy="457200"/>
          </a:xfrm>
          <a:prstGeom prst="rect">
            <a:avLst/>
          </a:prstGeom>
          <a:solidFill>
            <a:srgbClr val="0D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14300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기능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143000"/>
            <a:ext cx="6583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처리 (Agent 단계)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95560" y="11430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MVP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645920"/>
            <a:ext cx="116128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71907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E6FCF"/>
                </a:solidFill>
              </a:defRPr>
            </a:pPr>
            <a:r>
              <a:t>F1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171907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D3E50"/>
                </a:solidFill>
              </a:defRPr>
            </a:pPr>
            <a:r>
              <a:t>정산 선지급 추천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1719072"/>
            <a:ext cx="6583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D3E50"/>
                </a:solidFill>
              </a:defRPr>
            </a:pPr>
            <a:r>
              <a:t>판단: 회수확률 → 선지급률 산출 (GBM+SHAP)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95560" y="1719072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7AE60"/>
                </a:solidFill>
              </a:defRPr>
            </a:pPr>
            <a:r>
              <a:t>[구현]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148840"/>
            <a:ext cx="11612880" cy="502920"/>
          </a:xfrm>
          <a:prstGeom prst="rect">
            <a:avLst/>
          </a:prstGeom>
          <a:solidFill>
            <a:srgbClr val="F5F7FA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22199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E6FCF"/>
                </a:solidFill>
              </a:defRPr>
            </a:pPr>
            <a:r>
              <a:t>F2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222199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D3E50"/>
                </a:solidFill>
              </a:defRPr>
            </a:pPr>
            <a:r>
              <a:t>정책자금 매칭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2221992"/>
            <a:ext cx="6583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D3E50"/>
                </a:solidFill>
              </a:defRPr>
            </a:pPr>
            <a:r>
              <a:t>행동: 정책 RAG → 자격 룰 검증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5560" y="2221992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7AE60"/>
                </a:solidFill>
              </a:defRPr>
            </a:pPr>
            <a:r>
              <a:t>[구현]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2651760"/>
            <a:ext cx="116128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72491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E6FCF"/>
                </a:solidFill>
              </a:defRPr>
            </a:pPr>
            <a:r>
              <a:t>F3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272491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D3E50"/>
                </a:solidFill>
              </a:defRPr>
            </a:pPr>
            <a:r>
              <a:t>조기 위험경보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2724912"/>
            <a:ext cx="6583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D3E50"/>
                </a:solidFill>
              </a:defRPr>
            </a:pPr>
            <a:r>
              <a:t>판단: 개인별 이상탐지 (연체 전)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5560" y="2724912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7AE60"/>
                </a:solidFill>
              </a:defRPr>
            </a:pPr>
            <a:r>
              <a:t>[구현]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3154680"/>
            <a:ext cx="11612880" cy="502920"/>
          </a:xfrm>
          <a:prstGeom prst="rect">
            <a:avLst/>
          </a:prstGeom>
          <a:solidFill>
            <a:srgbClr val="F5F7FA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322783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E6FCF"/>
                </a:solidFill>
              </a:defRPr>
            </a:pPr>
            <a:r>
              <a:t>F4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322783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D3E50"/>
                </a:solidFill>
              </a:defRPr>
            </a:pPr>
            <a:r>
              <a:t>은행원 코파일럿 UI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74720" y="3227832"/>
            <a:ext cx="6583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D3E50"/>
                </a:solidFill>
              </a:defRPr>
            </a:pPr>
            <a:r>
              <a:t>행동: 3단계 신호 + SHAP + 한도슬라이더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5560" y="3227832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7AE60"/>
                </a:solidFill>
              </a:defRPr>
            </a:pPr>
            <a:r>
              <a:t>[구현]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3657600"/>
            <a:ext cx="116128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373075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E6FCF"/>
                </a:solidFill>
              </a:defRPr>
            </a:pPr>
            <a:r>
              <a:t>F5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373075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D3E50"/>
                </a:solidFill>
              </a:defRPr>
            </a:pPr>
            <a:r>
              <a:t>회수 자동 상계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74720" y="3730752"/>
            <a:ext cx="6583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D3E50"/>
                </a:solidFill>
              </a:defRPr>
            </a:pPr>
            <a:r>
              <a:t>행동: 정산일 자동 회수 (종료조건)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3730752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300"/>
                </a:solidFill>
              </a:defRPr>
            </a:pPr>
            <a:r>
              <a:t>[시뮬]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4160520"/>
            <a:ext cx="11612880" cy="502920"/>
          </a:xfrm>
          <a:prstGeom prst="rect">
            <a:avLst/>
          </a:prstGeom>
          <a:solidFill>
            <a:srgbClr val="F5F7FA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5760" y="423367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E6FCF"/>
                </a:solidFill>
              </a:defRPr>
            </a:pPr>
            <a:r>
              <a:t>F6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" y="423367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D3E50"/>
                </a:solidFill>
              </a:defRPr>
            </a:pPr>
            <a:r>
              <a:t>회수 피드백 학습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74720" y="4233672"/>
            <a:ext cx="6583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D3E50"/>
                </a:solidFill>
              </a:defRPr>
            </a:pPr>
            <a:r>
              <a:t>검증: 모델·임계값 재보정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95560" y="4233672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99999"/>
                </a:solidFill>
              </a:defRPr>
            </a:pPr>
            <a:r>
              <a:t>[설계]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47548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D3E50"/>
                </a:solidFill>
              </a:defRPr>
            </a:pPr>
            <a:r>
              <a:t>Agent Loop: 데이터 → 검색 → 판단 → 생성 → 검증 → 후속 액션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5212080"/>
            <a:ext cx="2651760" cy="914400"/>
          </a:xfrm>
          <a:prstGeom prst="roundRect">
            <a:avLst/>
          </a:prstGeom>
          <a:solidFill>
            <a:srgbClr val="E8F4FD"/>
          </a:solidFill>
          <a:ln>
            <a:solidFill>
              <a:srgbClr val="1E6F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530352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E6FCF"/>
                </a:solidFill>
              </a:defRPr>
            </a:pPr>
            <a:r>
              <a:t>트리거</a:t>
            </a:r>
          </a:p>
          <a:p>
            <a:pPr algn="ctr">
              <a:defRPr sz="1000">
                <a:solidFill>
                  <a:srgbClr val="2D3E50"/>
                </a:solidFill>
              </a:defRPr>
            </a:pPr>
            <a:r>
              <a:t>매일 밤 스캔/정산 발생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337560" y="5212080"/>
            <a:ext cx="2651760" cy="914400"/>
          </a:xfrm>
          <a:prstGeom prst="roundRect">
            <a:avLst/>
          </a:prstGeom>
          <a:solidFill>
            <a:srgbClr val="E8F4FD"/>
          </a:solidFill>
          <a:ln>
            <a:solidFill>
              <a:srgbClr val="1E6F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429000" y="530352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E6FCF"/>
                </a:solidFill>
              </a:defRPr>
            </a:pPr>
            <a:r>
              <a:t>판단</a:t>
            </a:r>
          </a:p>
          <a:p>
            <a:pPr algn="ctr">
              <a:defRPr sz="1000">
                <a:solidFill>
                  <a:srgbClr val="2D3E50"/>
                </a:solidFill>
              </a:defRPr>
            </a:pPr>
            <a:r>
              <a:t>회수확률·한도 산출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17920" y="5212080"/>
            <a:ext cx="2651760" cy="914400"/>
          </a:xfrm>
          <a:prstGeom prst="roundRect">
            <a:avLst/>
          </a:prstGeom>
          <a:solidFill>
            <a:srgbClr val="E8F4FD"/>
          </a:solidFill>
          <a:ln>
            <a:solidFill>
              <a:srgbClr val="1E6F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59" y="530352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E6FCF"/>
                </a:solidFill>
              </a:defRPr>
            </a:pPr>
            <a:r>
              <a:t>행동</a:t>
            </a:r>
          </a:p>
          <a:p>
            <a:pPr algn="ctr">
              <a:defRPr sz="1000">
                <a:solidFill>
                  <a:srgbClr val="2D3E50"/>
                </a:solidFill>
              </a:defRPr>
            </a:pPr>
            <a:r>
              <a:t>규칙엔진 검증 → 자동/에스컬레이션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098280" y="5212080"/>
            <a:ext cx="2651760" cy="914400"/>
          </a:xfrm>
          <a:prstGeom prst="roundRect">
            <a:avLst/>
          </a:prstGeom>
          <a:solidFill>
            <a:srgbClr val="E8F4FD"/>
          </a:solidFill>
          <a:ln>
            <a:solidFill>
              <a:srgbClr val="1E6F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89719" y="530352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E6FCF"/>
                </a:solidFill>
              </a:defRPr>
            </a:pPr>
            <a:r>
              <a:t>검증</a:t>
            </a:r>
          </a:p>
          <a:p>
            <a:pPr algn="ctr">
              <a:defRPr sz="1000">
                <a:solidFill>
                  <a:srgbClr val="2D3E50"/>
                </a:solidFill>
              </a:defRPr>
            </a:pPr>
            <a:r>
              <a:t>회수 결과 → 모델 재보정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D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사용자 시나리오 | 김영자 사장의 1년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2D3E50"/>
                </a:solidFill>
              </a:defRPr>
            </a:pPr>
            <a:r>
              <a:t>충장로 7년차 백반집 김영자 사장 — 지역화폐 매출은 탄탄, 정산 시간차에 늘 현금이 빈다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274320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2743200" cy="73152"/>
          </a:xfrm>
          <a:prstGeom prst="rect">
            <a:avLst/>
          </a:prstGeom>
          <a:solidFill>
            <a:srgbClr val="1E6F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39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D3E50"/>
                </a:solidFill>
              </a:defRPr>
            </a:pPr>
            <a:r>
              <a:t>봄 (선지급)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57400"/>
            <a:ext cx="2377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축제 대목, 지역화폐 300만원</a:t>
            </a:r>
          </a:p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정산은 익월 13일 (2~4주 뒤)</a:t>
            </a:r>
          </a:p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</a:p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→ 판단: 회수확률 96%</a:t>
            </a:r>
          </a:p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→ 행동: 276만원 선지급 추천</a:t>
            </a:r>
          </a:p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→ 검증: 정산일 자동 회수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1554480"/>
            <a:ext cx="274320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37560" y="1554480"/>
            <a:ext cx="2743200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1691639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D3E50"/>
                </a:solidFill>
              </a:defRPr>
            </a:pPr>
            <a:r>
              <a:t>여름 (정책 연계)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2057400"/>
            <a:ext cx="2377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받을 수 있는 지원금을</a:t>
            </a:r>
          </a:p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AI가 먼저 찾아 연결</a:t>
            </a:r>
          </a:p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</a:p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→ RAG 기반 정책 매칭</a:t>
            </a:r>
          </a:p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→ 신청 동선 안내</a:t>
            </a:r>
          </a:p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</a:p>
        </p:txBody>
      </p:sp>
      <p:sp>
        <p:nvSpPr>
          <p:cNvPr id="13" name="Rounded Rectangle 12"/>
          <p:cNvSpPr/>
          <p:nvPr/>
        </p:nvSpPr>
        <p:spPr>
          <a:xfrm>
            <a:off x="6217920" y="1554480"/>
            <a:ext cx="274320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554480"/>
            <a:ext cx="2743200" cy="73152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691639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D3E50"/>
                </a:solidFill>
              </a:defRPr>
            </a:pPr>
            <a:r>
              <a:t>가을 (거절·관리)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057400"/>
            <a:ext cx="2377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매출 이상 감지 → 선지급 보류</a:t>
            </a:r>
          </a:p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</a:p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그러나 끝이 아니라 트리거:</a:t>
            </a:r>
          </a:p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㉠ 정책자금 ㉡ 상환유예</a:t>
            </a:r>
          </a:p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㉢ 정산 정상화 후 재신청</a:t>
            </a:r>
          </a:p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→ 연체 전 골든타임 연착륙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280" y="1554480"/>
            <a:ext cx="274320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98280" y="1554480"/>
            <a:ext cx="2743200" cy="73152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81159" y="1691639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D3E50"/>
                </a:solidFill>
              </a:defRPr>
            </a:pPr>
            <a:r>
              <a:t>겨울 (결말)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81159" y="2057400"/>
            <a:ext cx="2377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폐업 없이 생존</a:t>
            </a:r>
          </a:p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</a:p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은행은 좋은 고객과</a:t>
            </a:r>
          </a:p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부실 한 건을 지켰다</a:t>
            </a:r>
          </a:p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</a:p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→ 관계금융 복원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029200"/>
            <a:ext cx="11247120" cy="1097280"/>
          </a:xfrm>
          <a:prstGeom prst="roundRect">
            <a:avLst/>
          </a:prstGeom>
          <a:solidFill>
            <a:srgbClr val="E8F4FD"/>
          </a:solidFill>
          <a:ln>
            <a:solidFill>
              <a:srgbClr val="1E6F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1663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D2B52"/>
                </a:solidFill>
              </a:defRPr>
            </a:pPr>
            <a:r>
              <a:t>잘 주는 화면은 누구나 만들지만, 거절을 관계로 바꾸는 화면이 동네 지점장의 차별점</a:t>
            </a:r>
          </a:p>
          <a:p>
            <a:pPr algn="ctr">
              <a:defRPr sz="1400">
                <a:solidFill>
                  <a:srgbClr val="2D3E50"/>
                </a:solidFill>
              </a:defRPr>
            </a:pPr>
            <a:r>
              <a:t>"거절당했지만 버려지지 않는다" — 관계금융의 핵심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D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기술 구성 | Data &amp; Tech Plan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548640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5486400" cy="73152"/>
          </a:xfrm>
          <a:prstGeom prst="rect">
            <a:avLst/>
          </a:prstGeom>
          <a:solidFill>
            <a:srgbClr val="1E6F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34439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D3E50"/>
                </a:solidFill>
              </a:defRPr>
            </a:pPr>
            <a:r>
              <a:t>데이터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5120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실배포: 광주상생카드 정산 데이터 (운영 대행)</a:t>
            </a:r>
          </a:p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        + 입출금 + 상권정보 공공 API</a:t>
            </a:r>
          </a:p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</a:p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MVP(예선): 상권정보 공공 API (data.go.kr)</a:t>
            </a:r>
          </a:p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           + 합성 정산/거래 데이터 생성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097280"/>
            <a:ext cx="548640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1097280"/>
            <a:ext cx="5486400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234439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D3E50"/>
                </a:solidFill>
              </a:defRPr>
            </a:pPr>
            <a:r>
              <a:t>판단 모델 (결정론)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600200"/>
            <a:ext cx="5120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회수확률·추천한도: LightGBM + SHAP</a:t>
            </a:r>
          </a:p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→ 변수기여도 = 설명가능성</a:t>
            </a:r>
          </a:p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</a:p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이상탐지: scikit-learn</a:t>
            </a:r>
          </a:p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→ 개인별 패턴 기준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291840"/>
            <a:ext cx="548640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291840"/>
            <a:ext cx="5486400" cy="73152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429000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D3E50"/>
                </a:solidFill>
              </a:defRPr>
            </a:pPr>
            <a:r>
              <a:t>LLM (설명 전용)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794760"/>
            <a:ext cx="5120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온프레미스 Gemma 12B 계열 (4bit 양자화·vLLM)</a:t>
            </a:r>
          </a:p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→ 판단 X, 설명·RAG·대화 전용</a:t>
            </a:r>
          </a:p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</a:p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환각 방지: FACT_BLOCK 주입 + validator</a:t>
            </a:r>
          </a:p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→ 정산데이터 외부 반출 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291840"/>
            <a:ext cx="548640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3291840"/>
            <a:ext cx="5486400" cy="73152"/>
          </a:xfrm>
          <a:prstGeom prst="rect">
            <a:avLst/>
          </a:prstGeom>
          <a:solidFill>
            <a:srgbClr val="1E6F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3429000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D3E50"/>
                </a:solidFill>
              </a:defRPr>
            </a:pPr>
            <a:r>
              <a:t>규칙엔진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794760"/>
            <a:ext cx="5120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승인·한도·정산주기 정책 코드화</a:t>
            </a:r>
          </a:p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연환산 금리 ≤ 법정상한 하드캡</a:t>
            </a:r>
          </a:p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haircut (환불률 반영)</a:t>
            </a:r>
          </a:p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</a:p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→ 인간 최종판단 · 감사 가능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48640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66666"/>
                </a:solidFill>
              </a:defRPr>
            </a:pPr>
            <a:r>
              <a:t>OSS: LightGBM · scikit-learn · vLLM · pgvector · Gemma (상업적 사용 가능) · 공공데이터포털 상권 API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D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기대 효과 | Expected Impact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36576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3657600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34439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D3E50"/>
                </a:solidFill>
              </a:defRPr>
            </a:pPr>
            <a:r>
              <a:t>소상공인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흑자도산 방지</a:t>
            </a:r>
          </a:p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평균 약 4주의 정산 시간차를</a:t>
            </a:r>
          </a:p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메우는 즉시 유동성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097280"/>
            <a:ext cx="3749039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097280"/>
            <a:ext cx="3749039" cy="73152"/>
          </a:xfrm>
          <a:prstGeom prst="rect">
            <a:avLst/>
          </a:prstGeom>
          <a:solidFill>
            <a:srgbClr val="1E6F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1234439"/>
            <a:ext cx="33832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D3E50"/>
                </a:solidFill>
              </a:defRPr>
            </a:pPr>
            <a:r>
              <a:t>JB금융그룹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1600200"/>
            <a:ext cx="3383279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단기·고회전·저위험 수익</a:t>
            </a:r>
          </a:p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부실 예방 + 관계 강화</a:t>
            </a:r>
          </a:p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비이자수익 + 대손 절감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097280"/>
            <a:ext cx="34747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1097280"/>
            <a:ext cx="3474720" cy="73152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1234439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D3E50"/>
                </a:solidFill>
              </a:defRPr>
            </a:pPr>
            <a:r>
              <a:t>정부·지역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160020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지역경제 순환 촉진</a:t>
            </a:r>
          </a:p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소상공인 보호</a:t>
            </a:r>
          </a:p>
          <a:p>
            <a:pPr>
              <a:spcBef>
                <a:spcPts val="400"/>
              </a:spcBef>
              <a:defRPr sz="1200">
                <a:solidFill>
                  <a:srgbClr val="2D3E50"/>
                </a:solidFill>
              </a:defRPr>
            </a:pPr>
            <a:r>
              <a:t>(포용금융)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108960"/>
            <a:ext cx="11247120" cy="1463040"/>
          </a:xfrm>
          <a:prstGeom prst="roundRect">
            <a:avLst/>
          </a:prstGeom>
          <a:solidFill>
            <a:srgbClr val="E8F4FD"/>
          </a:solidFill>
          <a:ln>
            <a:solidFill>
              <a:srgbClr val="1E6F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20040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E6FCF"/>
                </a:solidFill>
              </a:defRPr>
            </a:pPr>
            <a:r>
              <a:t>기대 KPI (가정·예시, 파일럿서 측정)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611880"/>
            <a:ext cx="25603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2D3E50"/>
                </a:solidFill>
              </a:defRPr>
            </a:pPr>
            <a:r>
              <a:t>부실 조기 발견율</a:t>
            </a:r>
          </a:p>
          <a:p>
            <a:pPr algn="ctr">
              <a:defRPr sz="2400" b="1">
                <a:solidFill>
                  <a:srgbClr val="1E6FCF"/>
                </a:solidFill>
              </a:defRPr>
            </a:pPr>
            <a:r>
              <a:t>+20%p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3611880"/>
            <a:ext cx="25603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2D3E50"/>
                </a:solidFill>
              </a:defRPr>
            </a:pPr>
            <a:r>
              <a:t>정책자금 연결률</a:t>
            </a:r>
          </a:p>
          <a:p>
            <a:pPr algn="ctr">
              <a:defRPr sz="2400" b="1">
                <a:solidFill>
                  <a:srgbClr val="1E6FCF"/>
                </a:solidFill>
              </a:defRPr>
            </a:pPr>
            <a:r>
              <a:t>+30%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3611880"/>
            <a:ext cx="25603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2D3E50"/>
                </a:solidFill>
              </a:defRPr>
            </a:pPr>
            <a:r>
              <a:t>소상공인 이탈률</a:t>
            </a:r>
          </a:p>
          <a:p>
            <a:pPr algn="ctr">
              <a:defRPr sz="2400" b="1">
                <a:solidFill>
                  <a:srgbClr val="1E6FCF"/>
                </a:solidFill>
              </a:defRPr>
            </a:pPr>
            <a:r>
              <a:t>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3611880"/>
            <a:ext cx="25603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2D3E50"/>
                </a:solidFill>
              </a:defRPr>
            </a:pPr>
            <a:r>
              <a:t>상담 준비시간</a:t>
            </a:r>
          </a:p>
          <a:p>
            <a:pPr algn="ctr">
              <a:defRPr sz="2400" b="1">
                <a:solidFill>
                  <a:srgbClr val="1E6FCF"/>
                </a:solidFill>
              </a:defRPr>
            </a:pPr>
            <a:r>
              <a:t>-50%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7548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D3E50"/>
                </a:solidFill>
              </a:defRPr>
            </a:pPr>
            <a:r>
              <a:t>단위경제 (가정, 파일럿서 측정·교체)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12064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D3E50"/>
                </a:solidFill>
              </a:defRPr>
            </a:pPr>
            <a:r>
              <a:t>• 평균 선지급 200만원 · 18일 · 연환산 수수료율 7~9% (건당 ≈0.4%)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440679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D3E50"/>
                </a:solidFill>
              </a:defRPr>
            </a:pPr>
            <a:r>
              <a:t>• 건당 마진은 작다 → 얇은 자본·고회전으로 ROE 확보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7607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D3E50"/>
                </a:solidFill>
              </a:defRPr>
            </a:pPr>
            <a:r>
              <a:t>• net ROA는 자동화율이 좌우 (출시초기 30~50% → 목표 90%+)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D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향후 확장 | 2축 등급 확장 경로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D3E50"/>
                </a:solidFill>
              </a:defRPr>
            </a:pPr>
            <a:r>
              <a:t>'내일 들어올 확정 현금흐름' 플랫폼 — 자금확정성 × 실행 적격성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63040"/>
            <a:ext cx="11612880" cy="457200"/>
          </a:xfrm>
          <a:prstGeom prst="rect">
            <a:avLst/>
          </a:prstGeom>
          <a:solidFill>
            <a:srgbClr val="0D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5087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단계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50876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대상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150876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자금확정성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150876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실행 적격성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011680"/>
            <a:ext cx="11612880" cy="64008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1031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E6FCF"/>
                </a:solidFill>
              </a:defRPr>
            </a:pPr>
            <a:r>
              <a:t>MVP (키스톤)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21031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D3E50"/>
                </a:solidFill>
              </a:defRPr>
            </a:pPr>
            <a:r>
              <a:t>지역화폐 정산</a:t>
            </a:r>
            <a:br/>
            <a:r>
              <a:t>(광주은행 운영·해자)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21031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D3E50"/>
                </a:solidFill>
              </a:defRPr>
            </a:pPr>
            <a:r>
              <a:t>확정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21031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D3E50"/>
                </a:solidFill>
              </a:defRPr>
            </a:pPr>
            <a:r>
              <a:t>운영계약 확인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2651760"/>
            <a:ext cx="11612880" cy="640080"/>
          </a:xfrm>
          <a:prstGeom prst="rect">
            <a:avLst/>
          </a:prstGeom>
          <a:solidFill>
            <a:srgbClr val="F5F7FA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27432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D3E50"/>
                </a:solidFill>
              </a:defRPr>
            </a:pPr>
            <a:r>
              <a:t>확장1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27432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D3E50"/>
                </a:solidFill>
              </a:defRPr>
            </a:pPr>
            <a:r>
              <a:t>카드·배달 정산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0" y="27432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D3E50"/>
                </a:solidFill>
              </a:defRPr>
            </a:pPr>
            <a:r>
              <a:t>확정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27432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D3E50"/>
                </a:solidFill>
              </a:defRPr>
            </a:pPr>
            <a:r>
              <a:t>적격 (선정산 관행 존재)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291840"/>
            <a:ext cx="11612880" cy="64008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33832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D3E50"/>
                </a:solidFill>
              </a:defRPr>
            </a:pPr>
            <a:r>
              <a:t>확장1'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20240" y="3383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D3E50"/>
                </a:solidFill>
              </a:defRPr>
            </a:pPr>
            <a:r>
              <a:t>보험금·정부지원금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60720" y="33832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D3E50"/>
                </a:solidFill>
              </a:defRPr>
            </a:pPr>
            <a:r>
              <a:t>조건부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3383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D3E50"/>
                </a:solidFill>
              </a:defRPr>
            </a:pPr>
            <a:r>
              <a:t>제한 (양도금지 多) → 개별검토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931920"/>
            <a:ext cx="11612880" cy="640080"/>
          </a:xfrm>
          <a:prstGeom prst="rect">
            <a:avLst/>
          </a:prstGeom>
          <a:solidFill>
            <a:srgbClr val="F5F7FA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40233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D3E50"/>
                </a:solidFill>
              </a:defRPr>
            </a:pPr>
            <a:r>
              <a:t>확장2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20240" y="40233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D3E50"/>
                </a:solidFill>
              </a:defRPr>
            </a:pPr>
            <a:r>
              <a:t>급여 EWA·ATM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60720" y="40233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D3E50"/>
                </a:solidFill>
              </a:defRPr>
            </a:pPr>
            <a:r>
              <a:t>조건부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40233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D3E50"/>
                </a:solidFill>
              </a:defRPr>
            </a:pPr>
            <a:r>
              <a:t>부적격 → 샌드박스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47548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D3E50"/>
                </a:solidFill>
              </a:defRPr>
            </a:pPr>
            <a:r>
              <a:t>지리적 확장: 광주 → 전남 22개 시군 → JB금융그룹 (전북은행)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212080"/>
            <a:ext cx="11247120" cy="914400"/>
          </a:xfrm>
          <a:prstGeom prst="roundRect">
            <a:avLst/>
          </a:prstGeom>
          <a:solidFill>
            <a:srgbClr val="FDF2E3"/>
          </a:solidFill>
          <a:ln>
            <a:solidFill>
              <a:srgbClr val="FFB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53492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B300"/>
                </a:solidFill>
              </a:defRPr>
            </a:pPr>
            <a:r>
              <a:t>★ 키스톤: 운영대행 계약상 선지급 허용 + 정산데이터 여신활용 적법근거</a:t>
            </a:r>
          </a:p>
          <a:p>
            <a:pPr>
              <a:defRPr sz="1300">
                <a:solidFill>
                  <a:srgbClr val="2D3E50"/>
                </a:solidFill>
              </a:defRPr>
            </a:pPr>
            <a:r>
              <a:t>이 하나가 풀리면 — 기술 보유·캐피탈 그룹내·데모 동작 — 나머지는 빠르다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내일은행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92608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i="1">
                <a:solidFill>
                  <a:srgbClr val="FFB300"/>
                </a:solidFill>
              </a:defRPr>
            </a:pPr>
            <a:r>
              <a:t>"사라진 동네 지점장을, AI로 복원하다"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9319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AI 챗봇이 아니라, AI 지점장</a:t>
            </a:r>
          </a:p>
          <a:p>
            <a:pPr algn="ctr">
              <a:defRPr sz="1800">
                <a:solidFill>
                  <a:srgbClr val="AABBCC"/>
                </a:solidFill>
              </a:defRPr>
            </a:pPr>
            <a:r>
              <a:t>질문에 답하는 AI가 아니라, 먼저 찾아와 행동하는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48640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8899AA"/>
                </a:solidFill>
              </a:defRPr>
            </a:pPr>
            <a:r>
              <a:t>JB금융그룹 Fin:AI Challenge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