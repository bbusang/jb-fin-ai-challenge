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내일은행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B300"/>
                </a:solidFill>
              </a:defRPr>
            </a:pPr>
            <a:r>
              <a:t>내일 들어올 확정 현금흐름을 오늘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FFFFFF"/>
                </a:solidFill>
              </a:defRPr>
            </a:pPr>
            <a:r>
              <a:t>"사라진 동네 지점장을, AI로 복원하다"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BBCC"/>
                </a:solidFill>
              </a:defRPr>
            </a:pPr>
            <a:r>
              <a:t>JB금융그룹 Fin:AI Challenge · 자유주제 (JB금융그룹 연계 AI Agent)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문제 정의 | Problem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핵심 문제: 정산 시간차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지역화폐 매출은 이미 발생했지만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가맹점 정산은 월 단위로 묶여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익월 중순에야 입금됩니다.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일반 카드(2~3일)보다 정산 공백이 훨씬 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흑자도산형 자금경색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매출(채권)은 있는데 타이밍이 안 맞아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단기 운전자금이 막힌다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468880"/>
            <a:ext cx="54864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468880"/>
            <a:ext cx="54864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06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기존 대출의 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담보·신용평가·심사 시간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며칠짜리 유동성에 쓰기엔 무겁다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66160"/>
            <a:ext cx="36576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365760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033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대상 사용자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광주·전남 지역화폐(광주상생카드)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가맹 소상공인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재료비·인건비·임대료는 먼저 나간다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566160"/>
            <a:ext cx="3749039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3566160"/>
            <a:ext cx="3749039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703320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JB금융그룹 관점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69080"/>
            <a:ext cx="33832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광주은행 = 지역화폐 운영 대행사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소상공인 유동성 지원 = 핵심 고객가치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부실 사전 관리 + 관계금융 복원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566160"/>
            <a:ext cx="3474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347472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033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핀테크의 사각지대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카드 선정산은 있어도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지역화폐·정책자금 정산은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다루지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E6FCF"/>
                </a:solidFill>
              </a:defRPr>
            </a:pPr>
            <a:r>
              <a:t>→ 광주은행이 정산 데이터를 직접 보유 = 즉시 실증 가능한 과제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제안 솔루션 | AI 지점장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3E50"/>
                </a:solidFill>
              </a:defRPr>
            </a:pPr>
            <a:r>
              <a:t>내일은행 = 은행원 업무 화면에 붙는 'AI 지점장' 에이전트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고객 앱이 아니라 은행을 위한 도구. 질문에 답하는 AI가 아니라, 먼저 찾아와 행동하는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657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핵심 차별점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선지급 = 시장이 검증한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'확정채권 담보 단기여신' 구조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혁신은 AI 관계금융 레이어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011680"/>
            <a:ext cx="374903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2011680"/>
            <a:ext cx="3749039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2층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51460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쐐기: 광주은행 운영 지역화폐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(광주상생카드) 정산 - MVP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플랫폼: 카드·배달·지원금 확장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0116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011680"/>
            <a:ext cx="34747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4884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능동 작동 (Proactive)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146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매일 밤 관할 소상공인을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스스로 스캔해 위험·기회 발견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은행원에게 먼저 보고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23360"/>
            <a:ext cx="11247120" cy="73152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D2B52"/>
                </a:solidFill>
              </a:defRPr>
            </a:pPr>
            <a:r>
              <a:t>원칙: 한도는 기계 산식 · AI는 위험 발견·설명, 최종 승인은 규칙엔진/은행원 (인간 최종판단)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에이전트 루프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12080"/>
            <a:ext cx="3657600" cy="1005840"/>
          </a:xfrm>
          <a:prstGeom prst="roundRect">
            <a:avLst/>
          </a:prstGeom>
          <a:solidFill>
            <a:srgbClr val="E3F2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30352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6FCF"/>
                </a:solidFill>
              </a:defRPr>
            </a:pPr>
            <a:r>
              <a:t>판단(Reasoning)</a:t>
            </a:r>
          </a:p>
          <a:p>
            <a:pPr>
              <a:defRPr sz="1100">
                <a:solidFill>
                  <a:srgbClr val="2D3E50"/>
                </a:solidFill>
              </a:defRPr>
            </a:pPr>
            <a:r>
              <a:t>정산예정 + 상권정보 해석</a:t>
            </a:r>
            <a:br/>
            <a:r>
              <a:t>→ 한도(기계 산식) · 위험신호·플래그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5212080"/>
            <a:ext cx="3749039" cy="1005840"/>
          </a:xfrm>
          <a:prstGeom prst="roundRect">
            <a:avLst/>
          </a:prstGeom>
          <a:solidFill>
            <a:srgbClr val="E8F5E9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3035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행동(Action)</a:t>
            </a:r>
          </a:p>
          <a:p>
            <a:pPr>
              <a:defRPr sz="1100">
                <a:solidFill>
                  <a:srgbClr val="2D3E50"/>
                </a:solidFill>
              </a:defRPr>
            </a:pPr>
            <a:r>
              <a:t>선지급 추천 · 정책매칭 · 위험경보</a:t>
            </a:r>
            <a:br/>
            <a:r>
              <a:t>규칙엔진 자동집행/은행원 에스컬레이션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5212080"/>
            <a:ext cx="3474720" cy="1005840"/>
          </a:xfrm>
          <a:prstGeom prst="roundRect">
            <a:avLst/>
          </a:prstGeom>
          <a:solidFill>
            <a:srgbClr val="FDF2E3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53035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B300"/>
                </a:solidFill>
              </a:defRPr>
            </a:pPr>
            <a:r>
              <a:t>검증/개선(Verify)</a:t>
            </a:r>
          </a:p>
          <a:p>
            <a:pPr>
              <a:defRPr sz="1100">
                <a:solidFill>
                  <a:srgbClr val="2D3E50"/>
                </a:solidFill>
              </a:defRPr>
            </a:pPr>
            <a:r>
              <a:t>정산일 회수 결과 모니터링</a:t>
            </a:r>
            <a:br/>
            <a:r>
              <a:t>→ 모델·임계값 재보정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시스템 구성도 | 멀티 에이전트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47120" cy="731520"/>
          </a:xfrm>
          <a:prstGeom prst="round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오케스트레이터 (워크플로우 제어 · 도구 호출 · 결과 종합)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E6FCF"/>
                </a:solidFill>
              </a:defRPr>
            </a:pPr>
            <a:r>
              <a:t>회수확률</a:t>
            </a:r>
            <a:br/>
            <a:r>
              <a:t>에이전트</a:t>
            </a:r>
          </a:p>
          <a:p>
            <a:pPr algn="ctr">
              <a:defRPr sz="1100">
                <a:solidFill>
                  <a:srgbClr val="2D3E50"/>
                </a:solidFill>
              </a:defRPr>
            </a:pPr>
            <a:r>
              <a:t>GBM + SHAP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20116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위험</a:t>
            </a:r>
            <a:br/>
            <a:r>
              <a:t>에이전트</a:t>
            </a:r>
          </a:p>
          <a:p>
            <a:pPr algn="ctr">
              <a:defRPr sz="1100">
                <a:solidFill>
                  <a:srgbClr val="2D3E50"/>
                </a:solidFill>
              </a:defRPr>
            </a:pPr>
            <a:r>
              <a:t>이상탐지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148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정책</a:t>
            </a:r>
            <a:br/>
            <a:r>
              <a:t>에이전트</a:t>
            </a:r>
          </a:p>
          <a:p>
            <a:pPr algn="ctr">
              <a:defRPr sz="1100">
                <a:solidFill>
                  <a:srgbClr val="2D3E50"/>
                </a:solidFill>
              </a:defRPr>
            </a:pPr>
            <a:r>
              <a:t>RAG + 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011680"/>
            <a:ext cx="265176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14884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300"/>
                </a:solidFill>
              </a:defRPr>
            </a:pPr>
            <a:r>
              <a:t>수익성</a:t>
            </a:r>
            <a:br/>
            <a:r>
              <a:t>에이전트</a:t>
            </a:r>
          </a:p>
          <a:p>
            <a:pPr algn="ctr">
              <a:defRPr sz="1100">
                <a:solidFill>
                  <a:srgbClr val="2D3E50"/>
                </a:solidFill>
              </a:defRPr>
            </a:pPr>
            <a:r>
              <a:t>한도·금리 최적화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204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E50"/>
                </a:solidFill>
              </a:defRPr>
            </a:pPr>
            <a:r>
              <a:t>▼ 구조화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5486400" cy="137160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6FCF"/>
                </a:solidFill>
              </a:defRPr>
            </a:pPr>
            <a:r>
              <a:t>규칙엔진 (결정론적 최종)</a:t>
            </a:r>
          </a:p>
          <a:p>
            <a:pPr>
              <a:defRPr sz="1200">
                <a:solidFill>
                  <a:srgbClr val="2D3E50"/>
                </a:solidFill>
              </a:defRPr>
            </a:pPr>
            <a:r>
              <a:t>충돌 조정 · 한도·금리캡 · 정책 검증 · 집행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5486400" cy="1371600"/>
          </a:xfrm>
          <a:prstGeom prst="roundRect">
            <a:avLst/>
          </a:prstGeom>
          <a:solidFill>
            <a:srgbClr val="FDF2E3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9776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300"/>
                </a:solidFill>
              </a:defRPr>
            </a:pPr>
            <a:r>
              <a:t>LLM = 설명 전용 (판단 X)</a:t>
            </a:r>
          </a:p>
          <a:p>
            <a:pPr>
              <a:defRPr sz="1200">
                <a:solidFill>
                  <a:srgbClr val="2D3E50"/>
                </a:solidFill>
              </a:defRPr>
            </a:pPr>
            <a:r>
              <a:t>SHAP 기반 자연어 설명 생성 (환각 차단)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E50"/>
                </a:solidFill>
              </a:defRPr>
            </a:pPr>
            <a:r>
              <a:t>• 멀티 전문 에이전트: 회수확률·위험·정책·수익성 전문 판단들의 협업·조정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E50"/>
                </a:solidFill>
              </a:defRPr>
            </a:pPr>
            <a:r>
              <a:t>• 결정론/LLM 분리: 판단은 결정론 모델·규칙엔진, LLM은 설명·검색만 → 환각 차단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D3E50"/>
                </a:solidFill>
              </a:defRPr>
            </a:pPr>
            <a:r>
              <a:t>• 규제 가드: 선지급 재원·금리·haircut 전부 결정론 규칙으로 강제 (감사 가능)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 기능 | AI 지점장의 행동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666666"/>
                </a:solidFill>
              </a:defRPr>
            </a:pPr>
            <a:r>
              <a:t>옛 동네 지점장처럼 — 지켜주고 · 챙겨주고 · 당겨준다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[지켜준다] 조기 위험경보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정산·매출 패턴의 개인별 이상을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연체 전(골든타임)에 감지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연착륙 연계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[챙겨준다] 정책자금 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받을 수 있는 정책을 RAG로 찾아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신청 동선까지 안내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8138160" y="1463040"/>
            <a:ext cx="36576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65760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[당겨준다] 선지급 (핵심)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659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확정된 지역화폐 정산을 정산일 전 선지급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선지급액 = 정산예정액 × (1-haircut)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예: 300만 → 276만 (이자는 분리·별도)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566928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66928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947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은행원 코파일럿 화면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• 3단계 신호 (스크리닝/위험플래그/결격) + SHAP 근거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• 한도 슬라이더 ↔ 위험·회수확률 표시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• 거절 시 낙인 없는 대안 제시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AI가 발견, 사람이 결정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657600"/>
            <a:ext cx="53949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657600"/>
            <a:ext cx="539496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947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거절-연착륙 (독립 기능)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거절(약 5%)은 끝이 아니라 트리거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① 정책자금 ② 상환 유예 ③ 재신청 안내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거절을 관계로 바꾸는 화면 = 동네 지점장 차별점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기능 명세 | Feature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11612880" cy="45720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1430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14300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처리 (Agent 단계)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5560" y="11430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45920"/>
            <a:ext cx="11612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19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19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정산 선지급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190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판단: 한도=기계 산식 · 위험 라우팅 (GBM+SHAP)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17190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7AE60"/>
                </a:solidFill>
              </a:defRPr>
            </a:pPr>
            <a:r>
              <a:t>[구현]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148840"/>
            <a:ext cx="1161288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219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219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정책자금 매칭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행동: 정책 RAG → 자격 룰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22219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7AE60"/>
                </a:solidFill>
              </a:defRPr>
            </a:pPr>
            <a:r>
              <a:t>[구현]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51760"/>
            <a:ext cx="11612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24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249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조기 위험경보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72491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판단: 개인별 이상탐지 (연체 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724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7AE60"/>
                </a:solidFill>
              </a:defRPr>
            </a:pPr>
            <a:r>
              <a:t>[구현]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154680"/>
            <a:ext cx="1161288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2278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2278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은행원 코파일럿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2783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행동: 3단계 신호 + SHAP + 한도슬라이더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3227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7AE60"/>
                </a:solidFill>
              </a:defRPr>
            </a:pPr>
            <a:r>
              <a:t>[구현]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657600"/>
            <a:ext cx="1161288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7307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7307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회수 자동 상계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73075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행동: 정산일 자동 회수 (종료조건)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7307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B300"/>
                </a:solidFill>
              </a:defRPr>
            </a:pPr>
            <a:r>
              <a:t>[시뮬]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160520"/>
            <a:ext cx="11612880" cy="50292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2336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F6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2336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회수 피드백 학습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4233672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검증: 모델·임계값 재보정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42336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99999"/>
                </a:solidFill>
              </a:defRPr>
            </a:pPr>
            <a:r>
              <a:t>[설계]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E50"/>
                </a:solidFill>
              </a:defRPr>
            </a:pPr>
            <a:r>
              <a:t>Agent Loop: 데이터 → 검색 → 판단 → 생성 → 검증 → 후속 액션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212080"/>
            <a:ext cx="2651760" cy="91440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6FCF"/>
                </a:solidFill>
              </a:defRPr>
            </a:pPr>
            <a:r>
              <a:t>트리거</a:t>
            </a:r>
          </a:p>
          <a:p>
            <a:pPr algn="ctr">
              <a:defRPr sz="1000">
                <a:solidFill>
                  <a:srgbClr val="2D3E50"/>
                </a:solidFill>
              </a:defRPr>
            </a:pPr>
            <a:r>
              <a:t>매일 밤 스캔/정산 발생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5212080"/>
            <a:ext cx="2651760" cy="91440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6FCF"/>
                </a:solidFill>
              </a:defRPr>
            </a:pPr>
            <a:r>
              <a:t>판단</a:t>
            </a:r>
          </a:p>
          <a:p>
            <a:pPr algn="ctr">
              <a:defRPr sz="1000">
                <a:solidFill>
                  <a:srgbClr val="2D3E50"/>
                </a:solidFill>
              </a:defRPr>
            </a:pPr>
            <a:r>
              <a:t>기계 한도·위험 신호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212080"/>
            <a:ext cx="2651760" cy="91440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59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6FCF"/>
                </a:solidFill>
              </a:defRPr>
            </a:pPr>
            <a:r>
              <a:t>행동</a:t>
            </a:r>
          </a:p>
          <a:p>
            <a:pPr algn="ctr">
              <a:defRPr sz="1000">
                <a:solidFill>
                  <a:srgbClr val="2D3E50"/>
                </a:solidFill>
              </a:defRPr>
            </a:pPr>
            <a:r>
              <a:t>규칙엔진 검증 → 자동/에스컬레이션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98280" y="5212080"/>
            <a:ext cx="2651760" cy="91440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53035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6FCF"/>
                </a:solidFill>
              </a:defRPr>
            </a:pPr>
            <a:r>
              <a:t>검증</a:t>
            </a:r>
          </a:p>
          <a:p>
            <a:pPr algn="ctr">
              <a:defRPr sz="1000">
                <a:solidFill>
                  <a:srgbClr val="2D3E50"/>
                </a:solidFill>
              </a:defRPr>
            </a:pPr>
            <a:r>
              <a:t>회수 결과 → 모델 재보정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사용자 시나리오 | 김영자 사장의 1년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2D3E50"/>
                </a:solidFill>
              </a:defRPr>
            </a:pPr>
            <a:r>
              <a:t>충장로 7년차 백반집 김영자 사장 — 지역화폐 매출은 탄탄, 정산 시간차에 늘 현금이 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봄 (선지급)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축제 대목, 지역화폐 300만원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정산은 익월 13일 (2~4주 뒤)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판단: 스크리닝 통과 · 96%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행동: 276만원 선지급 집행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검증: 정산일 자동 회수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55448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691639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여름 (정책 연계)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받을 수 있는 지원금을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AI가 먼저 찾아 연결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RAG 기반 정책 매칭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신청 동선 안내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39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가을 (거절·관리)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이상 감지 → 은행원 검토 → 보류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그러나 끝이 아니라 트리거: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㉠ 정책자금 ㉡ 상환유예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㉢ 정산 정상화 후 재신청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연체 전 골든타임 연착륙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554480"/>
            <a:ext cx="274320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98280" y="1554480"/>
            <a:ext cx="27432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1691639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겨울 (결말)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05740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폐업 없이 생존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은행은 좋은 고객과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부실 한 건을 지켰다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관계금융 복원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1247120" cy="109728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2B52"/>
                </a:solidFill>
              </a:defRPr>
            </a:pPr>
            <a:r>
              <a:t>잘 주는 화면은 누구나 만들지만, 거절을 관계로 바꾸는 화면이 동네 지점장의 차별점</a:t>
            </a:r>
          </a:p>
          <a:p>
            <a:pPr algn="ctr">
              <a:defRPr sz="1400">
                <a:solidFill>
                  <a:srgbClr val="2D3E50"/>
                </a:solidFill>
              </a:defRPr>
            </a:pPr>
            <a:r>
              <a:t>"거절당했지만 버려지지 않는다" — 관계금융의 핵심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기술 구성 | Data &amp; Tech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데이터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실배포: 광주상생카드 정산 데이터 (운영 대행)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 xml:space="preserve">        + 입출금 + 상권정보 공공 API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MVP(예선): 상권정보 공공 API (data.go.kr)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 xml:space="preserve">           + 합성 정산/거래 데이터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4864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39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판단 모델 (결정론)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회수확률(위험 신호): LightGBM + SHAP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변수기여도 = 설명가능성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이상탐지: scikit-learn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개인별 패턴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548640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LLM (설명 전용)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온프레미스 Gemma 12B 계열 (4bit 양자화·vLLM)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판단 X, 설명·RAG·대화 전용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환각 방지: FACT_BLOCK 주입 + validator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정산데이터 외부 반출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91840"/>
            <a:ext cx="54864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5486400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4290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규칙엔진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7947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승인·한도·정산주기 정책 코드화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연환산 금리 ≤ 법정상한 하드캡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haircut(채권평가감)·이자 분리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→ 인간 최종판단 · 감사 가능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OSS: LightGBM · scikit-learn · vLLM · pgvector · Gemma (상업적 사용 가능) · 공공데이터포털 상권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기대 효과 | Expected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57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소상공인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흑자도산 방지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평균 약 4주의 정산 시간차를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메우는 즉시 유동성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749039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749039" cy="73152"/>
          </a:xfrm>
          <a:prstGeom prst="rect">
            <a:avLst/>
          </a:prstGeom>
          <a:solidFill>
            <a:srgbClr val="1E6F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39"/>
            <a:ext cx="3383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JB금융그룹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60020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단기·고회전·저위험 수익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부실 예방 + 관계 강화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비이자수익 + 대손 절감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0972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097280"/>
            <a:ext cx="3474720" cy="73152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3443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D3E50"/>
                </a:solidFill>
              </a:defRPr>
            </a:pPr>
            <a:r>
              <a:t>정부·지역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60020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지역경제 순환 촉진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소상공인 보호</a:t>
            </a:r>
          </a:p>
          <a:p>
            <a:pPr>
              <a:spcBef>
                <a:spcPts val="400"/>
              </a:spcBef>
              <a:defRPr sz="1200">
                <a:solidFill>
                  <a:srgbClr val="2D3E50"/>
                </a:solidFill>
              </a:defRPr>
            </a:pPr>
            <a:r>
              <a:t>(포용금융)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108960"/>
            <a:ext cx="11247120" cy="1463040"/>
          </a:xfrm>
          <a:prstGeom prst="roundRect">
            <a:avLst/>
          </a:prstGeom>
          <a:solidFill>
            <a:srgbClr val="E8F4FD"/>
          </a:solidFill>
          <a:ln>
            <a:solidFill>
              <a:srgbClr val="1E6F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6FCF"/>
                </a:solidFill>
              </a:defRPr>
            </a:pPr>
            <a:r>
              <a:t>기대 KPI (가정·예시, 파일럿서 측정)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E50"/>
                </a:solidFill>
              </a:defRPr>
            </a:pPr>
            <a:r>
              <a:t>부실 조기 발견율</a:t>
            </a:r>
          </a:p>
          <a:p>
            <a:pPr algn="ctr">
              <a:defRPr sz="2400" b="1">
                <a:solidFill>
                  <a:srgbClr val="1E6FCF"/>
                </a:solidFill>
              </a:defRPr>
            </a:pPr>
            <a:r>
              <a:t>+20%p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6118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E50"/>
                </a:solidFill>
              </a:defRPr>
            </a:pPr>
            <a:r>
              <a:t>정책자금 연결률</a:t>
            </a:r>
          </a:p>
          <a:p>
            <a:pPr algn="ctr">
              <a:defRPr sz="2400" b="1">
                <a:solidFill>
                  <a:srgbClr val="1E6FCF"/>
                </a:solidFill>
              </a:defRPr>
            </a:pPr>
            <a:r>
              <a:t>+30%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6118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E50"/>
                </a:solidFill>
              </a:defRPr>
            </a:pPr>
            <a:r>
              <a:t>소상공인 이탈률</a:t>
            </a:r>
          </a:p>
          <a:p>
            <a:pPr algn="ctr">
              <a:defRPr sz="2400" b="1">
                <a:solidFill>
                  <a:srgbClr val="1E6FCF"/>
                </a:solidFill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61188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2D3E50"/>
                </a:solidFill>
              </a:defRPr>
            </a:pPr>
            <a:r>
              <a:t>상담 준비시간</a:t>
            </a:r>
          </a:p>
          <a:p>
            <a:pPr algn="ctr">
              <a:defRPr sz="2400" b="1">
                <a:solidFill>
                  <a:srgbClr val="1E6FCF"/>
                </a:solidFill>
              </a:defRPr>
            </a:pPr>
            <a:r>
              <a:t>-50%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E50"/>
                </a:solidFill>
              </a:defRPr>
            </a:pPr>
            <a:r>
              <a:t>단위경제 (가정, 파일럿서 측정·교체)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E50"/>
                </a:solidFill>
              </a:defRPr>
            </a:pPr>
            <a:r>
              <a:t>• 평균 선지급 200만원 · 18일 · 연환산 수수료율 7~9% (건당 ≈0.4%)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40679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E50"/>
                </a:solidFill>
              </a:defRPr>
            </a:pPr>
            <a:r>
              <a:t>• 건당 마진은 작다 → 얇은 자본·고회전으로 ROE 확보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D3E50"/>
                </a:solidFill>
              </a:defRPr>
            </a:pPr>
            <a:r>
              <a:t>• net ROA는 자동화율이 좌우 (출시초기 30~50% → 목표 90%+)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향후 확장 | 2축 등급 확장 경로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E50"/>
                </a:solidFill>
              </a:defRPr>
            </a:pPr>
            <a:r>
              <a:t>'내일 들어올 확정 현금흐름' 플랫폼 — 자금확정성 × 실행 적격성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63040"/>
            <a:ext cx="11612880" cy="45720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087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5087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자금확정성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08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실행 적격성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16128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03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6FCF"/>
                </a:solidFill>
              </a:defRPr>
            </a:pPr>
            <a:r>
              <a:t>MVP (키스톤)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지역화폐 정산</a:t>
            </a:r>
            <a:br/>
            <a:r>
              <a:t>(광주은행 운영·해자)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운영계약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11612880" cy="64008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743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3E50"/>
                </a:solidFill>
              </a:defRPr>
            </a:pPr>
            <a:r>
              <a:t>확장1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카드·배달 정산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적격 (선정산 관행 존재)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291840"/>
            <a:ext cx="11612880" cy="6400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3E50"/>
                </a:solidFill>
              </a:defRPr>
            </a:pPr>
            <a:r>
              <a:t>확장1'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보험금·정부지원금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383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조건부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제한 (양도금지 多) → 개별검토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931920"/>
            <a:ext cx="11612880" cy="640080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3E50"/>
                </a:solidFill>
              </a:defRPr>
            </a:pPr>
            <a:r>
              <a:t>확장2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급여 EWA·ATM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023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조건부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D3E50"/>
                </a:solidFill>
              </a:defRPr>
            </a:pPr>
            <a:r>
              <a:t>부적격 → 샌드박스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3E50"/>
                </a:solidFill>
              </a:defRPr>
            </a:pPr>
            <a:r>
              <a:t>지리적 확장: 광주 → 전남 22개 시군 → JB금융그룹 (전북은행)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212080"/>
            <a:ext cx="11247120" cy="914400"/>
          </a:xfrm>
          <a:prstGeom prst="roundRect">
            <a:avLst/>
          </a:prstGeom>
          <a:solidFill>
            <a:srgbClr val="FDF2E3"/>
          </a:solidFill>
          <a:ln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B300"/>
                </a:solidFill>
              </a:defRPr>
            </a:pPr>
            <a:r>
              <a:t>★ 키스톤: 운영대행 계약상 선지급 허용 + 소상공인 명시 동의(여신활용·자동상계)</a:t>
            </a:r>
          </a:p>
          <a:p>
            <a:pPr>
              <a:defRPr sz="1300">
                <a:solidFill>
                  <a:srgbClr val="2D3E50"/>
                </a:solidFill>
              </a:defRPr>
            </a:pPr>
            <a:r>
              <a:t>이 하나가 풀리면 — 기술 보유·캐피탈 그룹내·데모 동작 — 나머지는 빠르다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내일은행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FB300"/>
                </a:solidFill>
              </a:defRPr>
            </a:pPr>
            <a:r>
              <a:t>"사라진 동네 지점장을, AI로 복원하다"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AI 챗봇이 아니라, AI 지점장</a:t>
            </a:r>
          </a:p>
          <a:p>
            <a:pPr algn="ctr">
              <a:defRPr sz="1800">
                <a:solidFill>
                  <a:srgbClr val="AABBCC"/>
                </a:solidFill>
              </a:defRPr>
            </a:pPr>
            <a:r>
              <a:t>질문에 답하는 AI가 아니라, 먼저 찾아와 행동하는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9AA"/>
                </a:solidFill>
              </a:defRPr>
            </a:pPr>
            <a:r>
              <a:t>JB금융그룹 Fin:AI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